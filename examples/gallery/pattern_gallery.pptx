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4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4.png"/><Relationship Id="rId6" Type="http://schemas.openxmlformats.org/officeDocument/2006/relationships/image" Target="../media/image26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42832" y="621792"/>
            <a:ext cx="2395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 lang="ja-JP">
                <a:solidFill>
                  <a:srgbClr val="BFD7D2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1046988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DF7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DF7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3163824"/>
            <a:ext cx="10378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BFD7D2"/>
                </a:solidFill>
                <a:latin typeface="Yu Gothic"/>
                <a:ea typeface="Yu Gothic"/>
                <a:cs typeface="Yu Gothic"/>
              </a:rPr>
              <a:t>意思決定からシステム構成まで、21の標準レイアウトを検証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FFFDF7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検証方針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LLMは構造化、rendererは提出品質を担う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366924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2430932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文言・項目・強調は content 側に寄せ、座標や余白は renderer 側に閉じ込める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6192" y="2846984"/>
            <a:ext cx="9281160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084728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6192" y="3148736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汎用エンジン化しすぎず、よく使うスライド種別をカタログとして増やす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36192" y="3564788"/>
            <a:ext cx="9281160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802532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3866540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PowerPoint 実レンダリングと機械検知を品質ゲートにして、崩れを早期に発見する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要点整理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判断に必要な4つの要点を、読み順に沿って整理する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何を判断してほしいかを1文で示し、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読み手の視点を揃える。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事実・制約・既に分かっていることを短く置く。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現状から言えることを、推測と事実を分けて整理する。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次アクション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誰が・いつまでに・何をするかを明確にする。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審査結果に応じた分岐・差戻し・再申請を1枚で示す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424988" y="2221992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703673" y="2221992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982358" y="2221992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82358" y="2221992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238390" y="2221992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238390" y="3465576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261043" y="2221992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377732" y="3931920"/>
            <a:ext cx="0" cy="438912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3820363" y="4370832"/>
            <a:ext cx="455736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3820363" y="2688336"/>
            <a:ext cx="0" cy="1682496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58368" y="1755648"/>
            <a:ext cx="1766620" cy="93268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874520"/>
            <a:ext cx="15105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212848"/>
            <a:ext cx="14923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2441448"/>
            <a:ext cx="14923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37052" y="1755648"/>
            <a:ext cx="1766620" cy="93268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5068" y="1874520"/>
            <a:ext cx="15105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74212" y="2212848"/>
            <a:ext cx="14923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4212" y="2441448"/>
            <a:ext cx="14923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15737" y="1755648"/>
            <a:ext cx="1766620" cy="932688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43753" y="1874520"/>
            <a:ext cx="15105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52897" y="2212848"/>
            <a:ext cx="14923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リスクと効果を評価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2897" y="2441448"/>
            <a:ext cx="14923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94422" y="1755648"/>
            <a:ext cx="1766620" cy="932688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22438" y="1874520"/>
            <a:ext cx="15105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1582" y="2212848"/>
            <a:ext cx="14923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実施条件を確定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4422" y="2999232"/>
            <a:ext cx="1766620" cy="93268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22438" y="3118104"/>
            <a:ext cx="15105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1582" y="3456432"/>
            <a:ext cx="14923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31582" y="3685032"/>
            <a:ext cx="14923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73107" y="1755648"/>
            <a:ext cx="1766620" cy="93268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01123" y="1874520"/>
            <a:ext cx="15105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0267" y="2212848"/>
            <a:ext cx="14923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計画に沿って着手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10267" y="2441448"/>
            <a:ext cx="14923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実行責任者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79513" y="2144331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22934" y="3387915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83592" y="4293171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64208"/>
            <a:ext cx="2423160" cy="438912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37360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フェーズ</a:t>
            </a:r>
          </a:p>
        </p:txBody>
      </p:sp>
      <p:sp>
        <p:nvSpPr>
          <p:cNvPr id="7" name="Rectangle 6"/>
          <p:cNvSpPr/>
          <p:nvPr/>
        </p:nvSpPr>
        <p:spPr>
          <a:xfrm>
            <a:off x="3081528" y="1664208"/>
            <a:ext cx="8430768" cy="438912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8152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8409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8409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6656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665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9220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922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1784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9178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434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9434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9691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691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99476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947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02040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0204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04604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0460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0716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0716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0973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80973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2103120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2816352"/>
            <a:ext cx="10853928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3529584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242816"/>
            <a:ext cx="10853928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4956048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308152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78409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48665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189220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891784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9434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29691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99947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702040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404604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10716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80973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51229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58368" y="21031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58368" y="28163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58368" y="352958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58368" y="424281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58368" y="495604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58368" y="56692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2231501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2188707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" y="2502529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27248" y="2274295"/>
            <a:ext cx="1313688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09544" y="2306299"/>
            <a:ext cx="11490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" y="2944733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3856" y="2901939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3215761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29812" y="2987527"/>
            <a:ext cx="2016252" cy="27432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12108" y="3019531"/>
            <a:ext cx="18516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8096" y="3657965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3856" y="3615171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33856" y="3928993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34940" y="3700759"/>
            <a:ext cx="2718816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17236" y="3732763"/>
            <a:ext cx="2554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" y="4371197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328403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6" y="4642225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42632" y="4413991"/>
            <a:ext cx="2016251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24928" y="4445995"/>
            <a:ext cx="18516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8096" y="5084429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33856" y="5041635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" y="5355457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450324" y="5127223"/>
            <a:ext cx="2016251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532620" y="5159227"/>
            <a:ext cx="18516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80" name="Diamond 79"/>
          <p:cNvSpPr/>
          <p:nvPr/>
        </p:nvSpPr>
        <p:spPr>
          <a:xfrm>
            <a:off x="4066794" y="2116835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73322" y="2588117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sp>
        <p:nvSpPr>
          <p:cNvPr id="82" name="Diamond 81"/>
          <p:cNvSpPr/>
          <p:nvPr/>
        </p:nvSpPr>
        <p:spPr>
          <a:xfrm>
            <a:off x="7579614" y="3543299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086142" y="4014581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sp>
        <p:nvSpPr>
          <p:cNvPr id="84" name="Diamond 83"/>
          <p:cNvSpPr/>
          <p:nvPr/>
        </p:nvSpPr>
        <p:spPr>
          <a:xfrm>
            <a:off x="11092434" y="496976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388193" y="5441045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関係者調整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運用事務局を中心に、5部門の役割をつなぐ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9048" y="2592324"/>
            <a:ext cx="0" cy="78181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7176017" y="3406003"/>
            <a:ext cx="2580030" cy="31620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6812146" y="4224409"/>
            <a:ext cx="1461842" cy="75893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3924107" y="4224409"/>
            <a:ext cx="1461842" cy="75893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442048" y="3406003"/>
            <a:ext cx="2580030" cy="31620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785866" y="3160908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効果報告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4438" y="3501262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権限 / 監査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928" y="4455022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 / 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1928" y="4455022"/>
            <a:ext cx="760095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利用ルール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5284" y="3501262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表現基準</a:t>
            </a:r>
          </a:p>
        </p:txBody>
      </p:sp>
      <p:pic>
        <p:nvPicPr>
          <p:cNvPr id="15" name="Picture 14" descr="brief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988820"/>
            <a:ext cx="585216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21870" y="2652648"/>
            <a:ext cx="55435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経営層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91350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方針承認</a:t>
            </a:r>
          </a:p>
        </p:txBody>
      </p:sp>
      <p:pic>
        <p:nvPicPr>
          <p:cNvPr id="18" name="Picture 1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2026" y="3075575"/>
            <a:ext cx="585216" cy="5852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555999" y="3739404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情報システム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026" y="4000262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環境管理</a:t>
            </a:r>
          </a:p>
        </p:txBody>
      </p:sp>
      <p:pic>
        <p:nvPicPr>
          <p:cNvPr id="21" name="Picture 20" descr="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307" y="4833984"/>
            <a:ext cx="585216" cy="58521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195585" y="432738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現場部門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9029" y="4588239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pic>
        <p:nvPicPr>
          <p:cNvPr id="24" name="Picture 23" descr="shield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5572" y="4833984"/>
            <a:ext cx="585216" cy="5852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448155" y="432738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法務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55572" y="458823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規程確認</a:t>
            </a:r>
          </a:p>
        </p:txBody>
      </p:sp>
      <p:pic>
        <p:nvPicPr>
          <p:cNvPr id="27" name="Picture 26" descr="se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0853" y="3075575"/>
            <a:ext cx="585216" cy="58521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933436" y="3739404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広報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40853" y="4000262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ブランド</a:t>
            </a:r>
          </a:p>
        </p:txBody>
      </p:sp>
      <p:sp>
        <p:nvSpPr>
          <p:cNvPr id="30" name="Oval 29"/>
          <p:cNvSpPr/>
          <p:nvPr/>
        </p:nvSpPr>
        <p:spPr>
          <a:xfrm>
            <a:off x="4978908" y="3374136"/>
            <a:ext cx="2240280" cy="960120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78908" y="3570732"/>
            <a:ext cx="2240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テンプレート</a:t>
            </a:r>
          </a:p>
          <a:p>
            <a:pPr algn="ctr">
              <a:lnSpc>
                <a:spcPct val="130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運用事務局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事業・技術の共同責任者から、実行組織へ権限をつなぐ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67379" y="2286000"/>
            <a:ext cx="0" cy="155448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67379" y="2441448"/>
            <a:ext cx="2828468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095847" y="2441448"/>
            <a:ext cx="0" cy="15544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924315" y="2286000"/>
            <a:ext cx="0" cy="155448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6095847" y="2441448"/>
            <a:ext cx="2828468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2441448"/>
            <a:ext cx="0" cy="15544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924315" y="2286000"/>
            <a:ext cx="0" cy="155448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924315" y="2441448"/>
            <a:ext cx="9915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915906" y="2441448"/>
            <a:ext cx="0" cy="15544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3364991"/>
            <a:ext cx="0" cy="155448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324557" y="3520439"/>
            <a:ext cx="3771290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324557" y="3520439"/>
            <a:ext cx="0" cy="15544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95847" y="3364991"/>
            <a:ext cx="0" cy="155448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5847" y="3520439"/>
            <a:ext cx="0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95847" y="3520439"/>
            <a:ext cx="0" cy="15544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5847" y="3364991"/>
            <a:ext cx="0" cy="155448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95847" y="3520439"/>
            <a:ext cx="37712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867138" y="3520439"/>
            <a:ext cx="0" cy="15544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15906" y="3364991"/>
            <a:ext cx="0" cy="155448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6095847" y="3520439"/>
            <a:ext cx="38200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095847" y="3520439"/>
            <a:ext cx="0" cy="15544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4828031"/>
            <a:ext cx="0" cy="155448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07943" y="4983479"/>
            <a:ext cx="288790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207943" y="4983479"/>
            <a:ext cx="0" cy="15544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867138" y="4828031"/>
            <a:ext cx="0" cy="155448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3207943" y="4983479"/>
            <a:ext cx="6659195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207943" y="4983479"/>
            <a:ext cx="0" cy="15544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594360" y="1517904"/>
            <a:ext cx="5346039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2376" y="1581912"/>
            <a:ext cx="5090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事業責任者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" y="1847088"/>
            <a:ext cx="5090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投資・優先度を決定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51295" y="1517904"/>
            <a:ext cx="5346039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79311" y="1581912"/>
            <a:ext cx="5090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技術責任者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1847088"/>
            <a:ext cx="5090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技術方針・品質を決定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" y="2596896"/>
            <a:ext cx="3362858" cy="768096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2376" y="2660903"/>
            <a:ext cx="310682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外部アドバイザー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" y="2926079"/>
            <a:ext cx="310682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専門知見を提供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14418" y="2596896"/>
            <a:ext cx="3362858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42434" y="2660903"/>
            <a:ext cx="310682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プログラムPM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42434" y="2926079"/>
            <a:ext cx="310682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全体計画と課題を統括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34476" y="2596896"/>
            <a:ext cx="3362858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62492" y="2660903"/>
            <a:ext cx="310682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アーキテクト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2492" y="2926079"/>
            <a:ext cx="310682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方式・非機能を統括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" y="3675887"/>
            <a:ext cx="3460394" cy="115214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2376" y="3739896"/>
            <a:ext cx="320436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業務設計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2376" y="4005072"/>
            <a:ext cx="3204362" cy="4480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要件・運用設計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0664" y="4489703"/>
            <a:ext cx="316778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1520" y="4553712"/>
            <a:ext cx="318607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企画 / 現場代表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65650" y="3675887"/>
            <a:ext cx="3460394" cy="115214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93666" y="3739896"/>
            <a:ext cx="320436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93666" y="4005072"/>
            <a:ext cx="3204362" cy="4480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実装・試験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11954" y="4489703"/>
            <a:ext cx="316778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02810" y="4553712"/>
            <a:ext cx="318607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アプリ / 基盤 / QA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136940" y="3675887"/>
            <a:ext cx="3460394" cy="115214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64956" y="3739896"/>
            <a:ext cx="320436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展開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64956" y="4005072"/>
            <a:ext cx="3204362" cy="4480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教育・移行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283244" y="4489703"/>
            <a:ext cx="316778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74100" y="4553712"/>
            <a:ext cx="318607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PMO / 部門窓口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4360" y="5138927"/>
            <a:ext cx="5227167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22376" y="5202936"/>
            <a:ext cx="497113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22376" y="5468112"/>
            <a:ext cx="4971135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監視・改善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70167" y="5138927"/>
            <a:ext cx="5227167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98183" y="5202936"/>
            <a:ext cx="497113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セキュリティ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98183" y="5468112"/>
            <a:ext cx="4971135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審査・監査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4012082" y="2980944"/>
            <a:ext cx="34747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5876391" y="5522975"/>
            <a:ext cx="219456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6095847" y="5522975"/>
            <a:ext cx="219456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4026941" y="2784411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助言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36970" y="5326443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連携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77614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38472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77614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38472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77614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38472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34030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94888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77614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38472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221198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82056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77614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38472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41283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35443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41283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41283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84867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84867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90707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90707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412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602141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90707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5156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46855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10771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92375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46855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46855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107713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46855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90439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51297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9043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5129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4026992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87850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4026992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87850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4026992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87850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4026992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87850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83408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4426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70576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53143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70576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53143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