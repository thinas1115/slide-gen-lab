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従来 (分)</c:v>
                </c:pt>
              </c:strCache>
            </c:strRef>
          </c:tx>
          <c:spPr>
            <a:solidFill>
              <a:srgbClr val="666E70"/>
            </a:solidFill>
          </c:spPr>
          <c:cat>
            <c:strRef>
              <c:f>Sheet1!$A$2:$A$5</c:f>
              <c:strCache>
                <c:ptCount val="4"/>
                <c:pt idx="0">
                  <c:v>週次報告</c:v>
                </c:pt>
                <c:pt idx="1">
                  <c:v>月次レビュー</c:v>
                </c:pt>
                <c:pt idx="2">
                  <c:v>調査サマリ</c:v>
                </c:pt>
                <c:pt idx="3">
                  <c:v>役員向け抜粋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120</c:v>
                </c:pt>
                <c:pt idx="2">
                  <c:v>240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生成後 (分)</c:v>
                </c:pt>
              </c:strCache>
            </c:strRef>
          </c:tx>
          <c:spPr>
            <a:solidFill>
              <a:srgbClr val="0D7870"/>
            </a:solidFill>
          </c:spPr>
          <c:cat>
            <c:strRef>
              <c:f>Sheet1!$A$2:$A$5</c:f>
              <c:strCache>
                <c:ptCount val="4"/>
                <c:pt idx="0">
                  <c:v>週次報告</c:v>
                </c:pt>
                <c:pt idx="1">
                  <c:v>月次レビュー</c:v>
                </c:pt>
                <c:pt idx="2">
                  <c:v>調査サマリ</c:v>
                </c:pt>
                <c:pt idx="3">
                  <c:v>役員向け抜粋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</c:v>
                </c:pt>
                <c:pt idx="1">
                  <c:v>42</c:v>
                </c:pt>
                <c:pt idx="2">
                  <c:v>85</c:v>
                </c:pt>
                <c:pt idx="3">
                  <c:v>28</c:v>
                </c:pt>
              </c:numCache>
            </c:numRef>
          </c:val>
        </c:ser>
        <c:dLbls>
          <c:txPr>
            <a:bodyPr/>
            <a:lstStyle/>
            <a:p>
              <a:pPr>
                <a:defRPr sz="11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6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7620">
              <a:solidFill>
                <a:srgbClr val="D1CFC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latin typeface="Yu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利用率</c:v>
                </c:pt>
              </c:strCache>
            </c:strRef>
          </c:tx>
          <c:spPr>
            <a:ln w="25400">
              <a:solidFill>
                <a:srgbClr val="666E70"/>
              </a:solidFill>
            </a:ln>
          </c:spPr>
          <c:marker>
            <c:spPr>
              <a:solidFill>
                <a:srgbClr val="666E70"/>
              </a:solidFill>
              <a:ln>
                <a:solidFill>
                  <a:srgbClr val="666E70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  <c:pt idx="6">
                  <c:v>10月</c:v>
                </c:pt>
                <c:pt idx="7">
                  <c:v>11月</c:v>
                </c:pt>
                <c:pt idx="8">
                  <c:v>12月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</c:v>
                </c:pt>
                <c:pt idx="1">
                  <c:v>18</c:v>
                </c:pt>
                <c:pt idx="2">
                  <c:v>25</c:v>
                </c:pt>
                <c:pt idx="3">
                  <c:v>31</c:v>
                </c:pt>
                <c:pt idx="4">
                  <c:v>44</c:v>
                </c:pt>
                <c:pt idx="5">
                  <c:v>52</c:v>
                </c:pt>
                <c:pt idx="6">
                  <c:v>61</c:v>
                </c:pt>
                <c:pt idx="7">
                  <c:v>67</c:v>
                </c:pt>
                <c:pt idx="8">
                  <c:v>74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目標</c:v>
                </c:pt>
              </c:strCache>
            </c:strRef>
          </c:tx>
          <c:spPr>
            <a:ln w="25400">
              <a:solidFill>
                <a:srgbClr val="0D7870"/>
              </a:solidFill>
            </a:ln>
          </c:spPr>
          <c:marker>
            <c:spPr>
              <a:solidFill>
                <a:srgbClr val="0D7870"/>
              </a:solidFill>
              <a:ln>
                <a:solidFill>
                  <a:srgbClr val="0D7870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  <c:pt idx="6">
                  <c:v>10月</c:v>
                </c:pt>
                <c:pt idx="7">
                  <c:v>11月</c:v>
                </c:pt>
                <c:pt idx="8">
                  <c:v>12月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20</c:v>
                </c:pt>
                <c:pt idx="1">
                  <c:v>25</c:v>
                </c:pt>
                <c:pt idx="2">
                  <c:v>30</c:v>
                </c:pt>
                <c:pt idx="3">
                  <c:v>35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D1CFC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latin typeface="Yu Gothi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作成</c:v>
                </c:pt>
              </c:strCache>
            </c:strRef>
          </c:tx>
          <c:spPr>
            <a:solidFill>
              <a:srgbClr val="666E70"/>
            </a:solidFill>
          </c:spPr>
          <c:cat>
            <c:strRef>
              <c:f>Sheet1!$A$2:$A$4</c:f>
              <c:strCache>
                <c:ptCount val="3"/>
                <c:pt idx="0">
                  <c:v>導入前</c:v>
                </c:pt>
                <c:pt idx="1">
                  <c:v>試行中</c:v>
                </c:pt>
                <c:pt idx="2">
                  <c:v>標準化後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38</c:v>
                </c:pt>
                <c:pt idx="2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レビュー</c:v>
                </c:pt>
              </c:strCache>
            </c:strRef>
          </c:tx>
          <c:spPr>
            <a:solidFill>
              <a:srgbClr val="0D7870"/>
            </a:solidFill>
          </c:spPr>
          <c:cat>
            <c:strRef>
              <c:f>Sheet1!$A$2:$A$4</c:f>
              <c:strCache>
                <c:ptCount val="3"/>
                <c:pt idx="0">
                  <c:v>導入前</c:v>
                </c:pt>
                <c:pt idx="1">
                  <c:v>試行中</c:v>
                </c:pt>
                <c:pt idx="2">
                  <c:v>標準化後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32</c:v>
                </c:pt>
                <c:pt idx="2">
                  <c:v>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意思決定</c:v>
                </c:pt>
              </c:strCache>
            </c:strRef>
          </c:tx>
          <c:spPr>
            <a:solidFill>
              <a:srgbClr val="C7583E"/>
            </a:solidFill>
          </c:spPr>
          <c:cat>
            <c:strRef>
              <c:f>Sheet1!$A$2:$A$4</c:f>
              <c:strCache>
                <c:ptCount val="3"/>
                <c:pt idx="0">
                  <c:v>導入前</c:v>
                </c:pt>
                <c:pt idx="1">
                  <c:v>試行中</c:v>
                </c:pt>
                <c:pt idx="2">
                  <c:v>標準化後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</c:v>
                </c:pt>
                <c:pt idx="1">
                  <c:v>30</c:v>
                </c:pt>
                <c:pt idx="2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6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D1CFC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latin typeface="Yu Gothi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7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4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4.png"/><Relationship Id="rId6" Type="http://schemas.openxmlformats.org/officeDocument/2006/relationships/image" Target="../media/image26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ver Background" descr="cover-background.png"/>
          <p:cNvPicPr>
            <a:picLocks noChangeAspect="1"/>
          </p:cNvPicPr>
          <p:nvPr/>
        </p:nvPicPr>
        <p:blipFill>
          <a:blip r:embed="rId2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42832" y="621792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lang="ja-JP">
                <a:solidFill>
                  <a:srgbClr val="BFD7D2"/>
                </a:solidFill>
                <a:latin typeface="Yu Gothic"/>
                <a:ea typeface="Yu Gothic"/>
                <a:cs typeface="Yu Gothic"/>
              </a:rPr>
              <a:t>2026年7月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10469880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200" b="1" lang="ja-JP">
                <a:solidFill>
                  <a:srgbClr val="FFFDF7"/>
                </a:solidFill>
                <a:latin typeface="Yu Gothic"/>
                <a:ea typeface="Yu Gothic"/>
                <a:cs typeface="Yu Gothic"/>
              </a:rPr>
              <a:t>社内スライド</a:t>
            </a:r>
          </a:p>
          <a:p>
            <a:pPr algn="l">
              <a:lnSpc>
                <a:spcPct val="108000"/>
              </a:lnSpc>
            </a:pPr>
            <a:r>
              <a:rPr sz="4200" b="1" lang="ja-JP">
                <a:solidFill>
                  <a:srgbClr val="FFFDF7"/>
                </a:solidFill>
                <a:latin typeface="Yu Gothic"/>
                <a:ea typeface="Yu Gothic"/>
                <a:cs typeface="Yu Gothic"/>
              </a:rPr>
              <a:t>パターンライブラリ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3163824"/>
            <a:ext cx="10378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50" b="0" lang="ja-JP">
                <a:solidFill>
                  <a:srgbClr val="BFD7D2"/>
                </a:solidFill>
                <a:latin typeface="Yu Gothic"/>
                <a:ea typeface="Yu Gothic"/>
                <a:cs typeface="Yu Gothic"/>
              </a:rPr>
              <a:t>意思決定からシステム構成まで、21の標準レイアウトを検証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FFFDF7"/>
                </a:solidFill>
                <a:latin typeface="Yu Gothic"/>
                <a:ea typeface="Yu Gothic"/>
                <a:cs typeface="Yu Gothic"/>
              </a:rPr>
              <a:t>業務改善検討チーム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検証方針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LLMは構造化、rendererは提出品質を担う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66924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5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2430932"/>
            <a:ext cx="9281160" cy="352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文言・項目・強調は content 側に寄せ、座標や余白は renderer 側に閉じ込める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6192" y="2846984"/>
            <a:ext cx="9281160" cy="10972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084728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5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3148736"/>
            <a:ext cx="9281160" cy="352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汎用エンジン化しすぎず、よく使うスライド種別をカタログとして増やす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36192" y="3564788"/>
            <a:ext cx="9281160" cy="10972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802532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5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3866540"/>
            <a:ext cx="9281160" cy="352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PowerPoint 実レンダリングと機械検知を品質ゲートにして、崩れを早期に発見する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C9D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5872" y="6382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6324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9376" y="6391656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要点整理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判断に必要な4つの要点を、読み順に沿って整理する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65376"/>
            <a:ext cx="5303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1837944"/>
            <a:ext cx="3611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2560320"/>
            <a:ext cx="3749039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何を判断してほしいかを1文で示し、</a:t>
            </a:r>
          </a:p>
          <a:p>
            <a:pPr algn="l">
              <a:lnSpc>
                <a:spcPct val="128000"/>
              </a:lnSpc>
            </a:pPr>
            <a:r>
              <a:rPr sz="16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読み手の視点を揃える。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70448" y="1883664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65376"/>
            <a:ext cx="479145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現状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04288"/>
            <a:ext cx="4754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事実・制約・既に分かっていることを短く置く。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907791"/>
            <a:ext cx="4791456" cy="10972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3081528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063240"/>
            <a:ext cx="479145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示唆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502152"/>
            <a:ext cx="4754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現状から言えることを、推測と事実を分けて整理する。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4105656"/>
            <a:ext cx="4791456" cy="10972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0448" y="427939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61104"/>
            <a:ext cx="479145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次アクション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700016"/>
            <a:ext cx="4754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誰が・いつまでに・何をするかを明確にする。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C9D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5872" y="6382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6324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9376" y="6391656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KPIスナップショット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KPIは数値を主役にし、判断材料を添える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28800"/>
            <a:ext cx="33101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作成時間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33101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lang="ja-JP">
                <a:solidFill>
                  <a:srgbClr val="C7583E"/>
                </a:solidFill>
                <a:latin typeface="Yu Gothic"/>
                <a:ea typeface="Yu Gothic"/>
                <a:cs typeface="Yu Gothic"/>
              </a:rPr>
              <a:t>-72%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44368"/>
            <a:ext cx="33101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週次報告の作成時間が平均45分から13分に短縮。下書き作成の自動化が主因。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3672" y="1865376"/>
            <a:ext cx="10972" cy="2414016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3984" y="1828800"/>
            <a:ext cx="33101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手直し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2212848"/>
            <a:ext cx="33101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8分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4" y="2944368"/>
            <a:ext cx="33101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生成後の確認と語尾修正に平均8分。テンプレート崩れは検出なし。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64424" y="1865376"/>
            <a:ext cx="10972" cy="2414016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1828800"/>
            <a:ext cx="33101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再利用率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212848"/>
            <a:ext cx="33101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64%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2944368"/>
            <a:ext cx="33101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一度作った構造化データを翌週も流用でき、定型資料ほど効果が高い。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C9D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5872" y="6382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6324F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9376" y="6391656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Before /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導入前後の違いを、同じ観点で比較する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719072"/>
            <a:ext cx="5212080" cy="324307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719072"/>
            <a:ext cx="5212080" cy="41148"/>
          </a:xfrm>
          <a:prstGeom prst="rect">
            <a:avLst/>
          </a:prstGeom>
          <a:solidFill>
            <a:srgbClr val="66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984248"/>
            <a:ext cx="45171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現状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304288"/>
            <a:ext cx="4517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導入前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2416" y="2779776"/>
            <a:ext cx="4517136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953512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944368"/>
            <a:ext cx="4206240" cy="474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担当者ごとにスライド構成がばらつき、レビュー観点も揃わない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4752" y="3501136"/>
            <a:ext cx="4206240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592576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583432"/>
            <a:ext cx="4206240" cy="474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グラフや表の貼り付け後に、余白・フォント・禁則を手作業で直す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44752" y="4140200"/>
            <a:ext cx="4206240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4231640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4222496"/>
            <a:ext cx="4206240" cy="474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過去資料をコピーして使うため、古い文言や注記が残りやすい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1719072"/>
            <a:ext cx="5212080" cy="3243072"/>
          </a:xfrm>
          <a:prstGeom prst="rect">
            <a:avLst/>
          </a:prstGeom>
          <a:solidFill>
            <a:srgbClr val="DF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1072" y="1719072"/>
            <a:ext cx="5212080" cy="41148"/>
          </a:xfrm>
          <a:prstGeom prst="rect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1984248"/>
            <a:ext cx="45171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目標状態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2304288"/>
            <a:ext cx="4517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導入後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2779776"/>
            <a:ext cx="4517136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8544" y="2953512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944368"/>
            <a:ext cx="4206240" cy="474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入力schemaに沿って文言を作るため、構成の揺れを抑えられる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3501136"/>
            <a:ext cx="4206240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3592576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583432"/>
            <a:ext cx="4206240" cy="474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rendererが余白・フォント・描画順を決め、提出前の確認に集中できる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4140200"/>
            <a:ext cx="4206240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8544" y="4231640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222496"/>
            <a:ext cx="4206240" cy="474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品質ゲートで重なりやはみ出しを検知し、修正箇所を特定しやすい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34456" y="3203448"/>
            <a:ext cx="32918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C9D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5872" y="6382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6324F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9376" y="6391656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方式比較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選定理由と見送り理由を、同じ粒度で比較する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90979"/>
          <a:ext cx="11185852" cy="3511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9167"/>
                <a:gridCol w="2693004"/>
                <a:gridCol w="3313759"/>
                <a:gridCol w="2899922"/>
              </a:tblGrid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方式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向いている用途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強み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注意点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renderer カタログ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社内標準資料・定型報告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品質を詰めた型を再利用できる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新しい型は実装が必要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万能宣言レイアウト</a:t>
                      </a:r>
                    </a:p>
                  </a:txBody>
                  <a:tcPr anchor="ctr" marL="82296" marR="82296" marT="36576" marB="36576">
                    <a:solidFill>
                      <a:srgbClr val="FFFF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図の大量バリエーション</a:t>
                      </a:r>
                    </a:p>
                  </a:txBody>
                  <a:tcPr anchor="ctr" marL="82296" marR="82296" marT="36576" marB="36576">
                    <a:solidFill>
                      <a:srgbClr val="FFFF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座標指定を減らせる</a:t>
                      </a:r>
                    </a:p>
                  </a:txBody>
                  <a:tcPr anchor="ctr" marL="82296" marR="82296" marT="36576" marB="36576">
                    <a:solidFill>
                      <a:srgbClr val="FFFF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エンジンが複雑化しやすい</a:t>
                      </a:r>
                    </a:p>
                  </a:txBody>
                  <a:tcPr anchor="ctr" marL="82296" marR="82296" marT="36576" marB="36576">
                    <a:solidFill>
                      <a:srgbClr val="FFFFFC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手作業PPT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一点物の重要提案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細部まで作り込める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再現性と量産性が低い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C9D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5872" y="6382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6324F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9376" y="6391656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効果測定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資料作成時間を最大72%短縮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645920"/>
          <a:ext cx="10789920" cy="43799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053328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値は検証用のサンプルデータ。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C9D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5872" y="6382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6324F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9376" y="6391656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利用推移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月次利用率は、試行開始から継続的に上昇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645920"/>
          <a:ext cx="10789920" cy="43799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053328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値は検証用のサンプルデータ。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C9D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5872" y="6382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6324F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9376" y="6391656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工数内訳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自動化後は、作成よりレビューへ時間を配分できる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645920"/>
          <a:ext cx="10789920" cy="43799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053328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構成比を示すサンプル。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C9D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5872" y="6382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6324F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9376" y="6391656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画面イメージ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画面キャプチャを、スライドの主役として大きく見せる</a:t>
            </a:r>
          </a:p>
        </p:txBody>
      </p:sp>
      <p:pic>
        <p:nvPicPr>
          <p:cNvPr id="5" name="ContentImage" descr="GitHubで公開されているpptxdslリポジトリのトップ画面"/>
          <p:cNvPicPr>
            <a:picLocks noChangeAspect="1"/>
          </p:cNvPicPr>
          <p:nvPr/>
        </p:nvPicPr>
        <p:blipFill>
          <a:blip r:embed="rId2"/>
          <a:srcRect t="7889" b="7889"/>
          <a:stretch>
            <a:fillRect/>
          </a:stretch>
        </p:blipFill>
        <p:spPr>
          <a:xfrm>
            <a:off x="658368" y="1499616"/>
            <a:ext cx="10874959" cy="4727448"/>
          </a:xfrm>
          <a:prstGeom prst="rect">
            <a:avLst/>
          </a:prstGeom>
          <a:effectLst>
            <a:outerShdw blurRad="76200" dist="50800" dir="2700000" algn="ctr" rotWithShape="0">
              <a:srgbClr val="000000">
                <a:alpha val="28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C9D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5872" y="6382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6324F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9376" y="6391656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標準プロセス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資料生成は5つの工程で品質を担保する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784908" y="2212848"/>
            <a:ext cx="8573414" cy="3200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1444" y="1947672"/>
            <a:ext cx="566928" cy="566928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1444" y="2029967"/>
            <a:ext cx="56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88336"/>
            <a:ext cx="196047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入力整理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55264"/>
            <a:ext cx="183245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目的・読み手・必須メッセージを整理する。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4818888"/>
            <a:ext cx="186903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084064"/>
            <a:ext cx="186903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資料要件</a:t>
            </a:r>
          </a:p>
        </p:txBody>
      </p:sp>
      <p:sp>
        <p:nvSpPr>
          <p:cNvPr id="12" name="Oval 11"/>
          <p:cNvSpPr/>
          <p:nvPr/>
        </p:nvSpPr>
        <p:spPr>
          <a:xfrm>
            <a:off x="3644798" y="1947672"/>
            <a:ext cx="566928" cy="566928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4798" y="2029967"/>
            <a:ext cx="56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8025" y="2688336"/>
            <a:ext cx="196047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構造化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2033" y="3255264"/>
            <a:ext cx="183245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schemaに沿ってスライド種別と文言を作る。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3745" y="4818888"/>
            <a:ext cx="186903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3745" y="5084064"/>
            <a:ext cx="186903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schema</a:t>
            </a:r>
          </a:p>
        </p:txBody>
      </p:sp>
      <p:sp>
        <p:nvSpPr>
          <p:cNvPr id="18" name="Oval 17"/>
          <p:cNvSpPr/>
          <p:nvPr/>
        </p:nvSpPr>
        <p:spPr>
          <a:xfrm>
            <a:off x="5788152" y="1947672"/>
            <a:ext cx="566928" cy="566928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8152" y="2029967"/>
            <a:ext cx="56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1379" y="2688336"/>
            <a:ext cx="196047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5387" y="3255264"/>
            <a:ext cx="183245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rendererがPPTXを決定論的に出力する。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7099" y="4818888"/>
            <a:ext cx="186903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7099" y="5084064"/>
            <a:ext cx="186903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PPTX</a:t>
            </a:r>
          </a:p>
        </p:txBody>
      </p:sp>
      <p:sp>
        <p:nvSpPr>
          <p:cNvPr id="24" name="Oval 23"/>
          <p:cNvSpPr/>
          <p:nvPr/>
        </p:nvSpPr>
        <p:spPr>
          <a:xfrm>
            <a:off x="7931505" y="1947672"/>
            <a:ext cx="566928" cy="566928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1505" y="2029967"/>
            <a:ext cx="56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4732" y="2688336"/>
            <a:ext cx="196047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検証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8740" y="3255264"/>
            <a:ext cx="183245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機械検知と目視で崩れを確認する。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0452" y="4818888"/>
            <a:ext cx="186903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0452" y="5084064"/>
            <a:ext cx="186903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機械 + 目視</a:t>
            </a:r>
          </a:p>
        </p:txBody>
      </p:sp>
      <p:sp>
        <p:nvSpPr>
          <p:cNvPr id="30" name="Oval 29"/>
          <p:cNvSpPr/>
          <p:nvPr/>
        </p:nvSpPr>
        <p:spPr>
          <a:xfrm>
            <a:off x="10074859" y="1947672"/>
            <a:ext cx="566928" cy="566928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74859" y="2029967"/>
            <a:ext cx="56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8086" y="2688336"/>
            <a:ext cx="196047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提出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2094" y="3255264"/>
            <a:ext cx="183245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contentを直して再生成し、提出する。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3806" y="4818888"/>
            <a:ext cx="186903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3806" y="5084064"/>
            <a:ext cx="186903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提出可能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C9D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05872" y="6382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6324F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9376" y="6391656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承認フロー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審査結果に応じた分岐・差戻し・再申請を1枚で示す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24988" y="2487168"/>
            <a:ext cx="512064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703673" y="2487168"/>
            <a:ext cx="512064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982358" y="2487168"/>
            <a:ext cx="512064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82358" y="2487168"/>
            <a:ext cx="256032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238390" y="2487168"/>
            <a:ext cx="0" cy="1243584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238390" y="3730752"/>
            <a:ext cx="256032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261043" y="2487168"/>
            <a:ext cx="512064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77732" y="4197096"/>
            <a:ext cx="0" cy="402336"/>
          </a:xfrm>
          <a:prstGeom prst="line">
            <a:avLst/>
          </a:prstGeom>
          <a:ln w="15875">
            <a:prstDash val="dash"/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820363" y="4599432"/>
            <a:ext cx="4557369" cy="0"/>
          </a:xfrm>
          <a:prstGeom prst="line">
            <a:avLst/>
          </a:prstGeom>
          <a:ln w="15875">
            <a:prstDash val="dash"/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820363" y="2953512"/>
            <a:ext cx="0" cy="1645920"/>
          </a:xfrm>
          <a:prstGeom prst="line">
            <a:avLst/>
          </a:prstGeom>
          <a:ln w="15875">
            <a:prstDash val="dash"/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58368" y="2020824"/>
            <a:ext cx="1766620" cy="932688"/>
          </a:xfrm>
          <a:prstGeom prst="rect">
            <a:avLst/>
          </a:prstGeom>
          <a:solidFill>
            <a:srgbClr val="FFFFFC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139696"/>
            <a:ext cx="15105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申請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478024"/>
            <a:ext cx="14923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必要事項を登録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2706624"/>
            <a:ext cx="14923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申請部門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37052" y="2020824"/>
            <a:ext cx="1766620" cy="932688"/>
          </a:xfrm>
          <a:prstGeom prst="rect">
            <a:avLst/>
          </a:prstGeom>
          <a:solidFill>
            <a:srgbClr val="FFFFFC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5068" y="2139696"/>
            <a:ext cx="15105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形式確認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4212" y="2478024"/>
            <a:ext cx="14923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不足項目を確認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4212" y="2706624"/>
            <a:ext cx="14923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事務局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5737" y="2020824"/>
            <a:ext cx="1766620" cy="932688"/>
          </a:xfrm>
          <a:prstGeom prst="rect">
            <a:avLst/>
          </a:prstGeom>
          <a:solidFill>
            <a:srgbClr val="182C43"/>
          </a:solidFill>
          <a:ln w="952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3753" y="2139696"/>
            <a:ext cx="15105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内容審査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2897" y="2478024"/>
            <a:ext cx="14923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lang="ja-JP">
                <a:solidFill>
                  <a:srgbClr val="DFEBE8"/>
                </a:solidFill>
                <a:latin typeface="Yu Gothic"/>
                <a:ea typeface="Yu Gothic"/>
                <a:cs typeface="Yu Gothic"/>
              </a:rPr>
              <a:t>リスクと効果を評価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2897" y="2706624"/>
            <a:ext cx="14923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審査会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4422" y="2020824"/>
            <a:ext cx="1766620" cy="932688"/>
          </a:xfrm>
          <a:prstGeom prst="rect">
            <a:avLst/>
          </a:prstGeom>
          <a:solidFill>
            <a:srgbClr val="DFEBE8"/>
          </a:solidFill>
          <a:ln w="9525">
            <a:solidFill>
              <a:srgbClr val="0D7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2438" y="2139696"/>
            <a:ext cx="15105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承認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1582" y="2478024"/>
            <a:ext cx="14923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実施条件を確定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4422" y="3264408"/>
            <a:ext cx="1766620" cy="932688"/>
          </a:xfrm>
          <a:prstGeom prst="rect">
            <a:avLst/>
          </a:prstGeom>
          <a:solidFill>
            <a:srgbClr val="FFFFFC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2438" y="3383280"/>
            <a:ext cx="15105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修正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1582" y="3721608"/>
            <a:ext cx="14923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指摘事項を反映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1582" y="3950208"/>
            <a:ext cx="14923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申請部門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73107" y="2020824"/>
            <a:ext cx="1766620" cy="932688"/>
          </a:xfrm>
          <a:prstGeom prst="rect">
            <a:avLst/>
          </a:prstGeom>
          <a:solidFill>
            <a:srgbClr val="FFFFFC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01123" y="2139696"/>
            <a:ext cx="15105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実施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0267" y="2478024"/>
            <a:ext cx="14923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計画に沿って着手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10267" y="2706624"/>
            <a:ext cx="14923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実行責任者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79513" y="2409507"/>
            <a:ext cx="317754" cy="15532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承認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934" y="3653091"/>
            <a:ext cx="430911" cy="15532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要修正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83592" y="4521771"/>
            <a:ext cx="430911" cy="15532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再申請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C9D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05872" y="6382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6324F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09376" y="6391656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展開計画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12か月で型の整備から全社標準へ移行する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2423160" cy="438912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37360"/>
            <a:ext cx="2093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フェーズ</a:t>
            </a:r>
          </a:p>
        </p:txBody>
      </p:sp>
      <p:sp>
        <p:nvSpPr>
          <p:cNvPr id="7" name="Rectangle 6"/>
          <p:cNvSpPr/>
          <p:nvPr/>
        </p:nvSpPr>
        <p:spPr>
          <a:xfrm>
            <a:off x="3081528" y="1664208"/>
            <a:ext cx="8430768" cy="438912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81528" y="1737360"/>
            <a:ext cx="7025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4月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84092" y="1737360"/>
            <a:ext cx="7025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5月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4092" y="1737360"/>
            <a:ext cx="9144" cy="292607"/>
          </a:xfrm>
          <a:prstGeom prst="rect">
            <a:avLst/>
          </a:prstGeom>
          <a:solidFill>
            <a:srgbClr val="66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6656" y="1737360"/>
            <a:ext cx="7025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6月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6656" y="1737360"/>
            <a:ext cx="9144" cy="292607"/>
          </a:xfrm>
          <a:prstGeom prst="rect">
            <a:avLst/>
          </a:prstGeom>
          <a:solidFill>
            <a:srgbClr val="66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9220" y="1737360"/>
            <a:ext cx="7025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7月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89220" y="1737360"/>
            <a:ext cx="9144" cy="292607"/>
          </a:xfrm>
          <a:prstGeom prst="rect">
            <a:avLst/>
          </a:prstGeom>
          <a:solidFill>
            <a:srgbClr val="66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1784" y="1737360"/>
            <a:ext cx="7025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8月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1784" y="1737360"/>
            <a:ext cx="9144" cy="292607"/>
          </a:xfrm>
          <a:prstGeom prst="rect">
            <a:avLst/>
          </a:prstGeom>
          <a:solidFill>
            <a:srgbClr val="66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4348" y="1737360"/>
            <a:ext cx="7025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9月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94348" y="1737360"/>
            <a:ext cx="9144" cy="292607"/>
          </a:xfrm>
          <a:prstGeom prst="rect">
            <a:avLst/>
          </a:prstGeom>
          <a:solidFill>
            <a:srgbClr val="66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6912" y="1737360"/>
            <a:ext cx="7025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10月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96912" y="1737360"/>
            <a:ext cx="9144" cy="292607"/>
          </a:xfrm>
          <a:prstGeom prst="rect">
            <a:avLst/>
          </a:prstGeom>
          <a:solidFill>
            <a:srgbClr val="66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9476" y="1737360"/>
            <a:ext cx="7025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11月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9476" y="1737360"/>
            <a:ext cx="9144" cy="292607"/>
          </a:xfrm>
          <a:prstGeom prst="rect">
            <a:avLst/>
          </a:prstGeom>
          <a:solidFill>
            <a:srgbClr val="66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02040" y="1737360"/>
            <a:ext cx="7025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12月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02040" y="1737360"/>
            <a:ext cx="9144" cy="292607"/>
          </a:xfrm>
          <a:prstGeom prst="rect">
            <a:avLst/>
          </a:prstGeom>
          <a:solidFill>
            <a:srgbClr val="66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4604" y="1737360"/>
            <a:ext cx="7025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1月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04604" y="1737360"/>
            <a:ext cx="9144" cy="292607"/>
          </a:xfrm>
          <a:prstGeom prst="rect">
            <a:avLst/>
          </a:prstGeom>
          <a:solidFill>
            <a:srgbClr val="66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07168" y="1737360"/>
            <a:ext cx="7025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2月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07168" y="1737360"/>
            <a:ext cx="9144" cy="292607"/>
          </a:xfrm>
          <a:prstGeom prst="rect">
            <a:avLst/>
          </a:prstGeom>
          <a:solidFill>
            <a:srgbClr val="66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09732" y="1737360"/>
            <a:ext cx="7025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3月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09732" y="1737360"/>
            <a:ext cx="9144" cy="292607"/>
          </a:xfrm>
          <a:prstGeom prst="rect">
            <a:avLst/>
          </a:prstGeom>
          <a:solidFill>
            <a:srgbClr val="66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2103120"/>
            <a:ext cx="10853928" cy="713232"/>
          </a:xfrm>
          <a:prstGeom prst="rect">
            <a:avLst/>
          </a:prstGeom>
          <a:solidFill>
            <a:srgbClr val="FFF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2816352"/>
            <a:ext cx="10853928" cy="71323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3529584"/>
            <a:ext cx="10853928" cy="713232"/>
          </a:xfrm>
          <a:prstGeom prst="rect">
            <a:avLst/>
          </a:prstGeom>
          <a:solidFill>
            <a:srgbClr val="FFF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242816"/>
            <a:ext cx="10853928" cy="71323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4956048"/>
            <a:ext cx="10853928" cy="713232"/>
          </a:xfrm>
          <a:prstGeom prst="rect">
            <a:avLst/>
          </a:prstGeom>
          <a:solidFill>
            <a:srgbClr val="FFF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3081528" y="2103120"/>
            <a:ext cx="0" cy="356616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84092" y="2103120"/>
            <a:ext cx="0" cy="356616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486656" y="2103120"/>
            <a:ext cx="0" cy="356616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189220" y="2103120"/>
            <a:ext cx="0" cy="356616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891784" y="2103120"/>
            <a:ext cx="0" cy="356616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594348" y="2103120"/>
            <a:ext cx="0" cy="356616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296912" y="2103120"/>
            <a:ext cx="0" cy="356616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999476" y="2103120"/>
            <a:ext cx="0" cy="356616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702040" y="2103120"/>
            <a:ext cx="0" cy="356616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404604" y="2103120"/>
            <a:ext cx="0" cy="356616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107168" y="2103120"/>
            <a:ext cx="0" cy="356616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809732" y="2103120"/>
            <a:ext cx="0" cy="356616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512296" y="2103120"/>
            <a:ext cx="0" cy="356616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58368" y="2103120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58368" y="2816352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58368" y="3529584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58368" y="4242816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58368" y="4956048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58368" y="5669280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8096" y="2231501"/>
            <a:ext cx="3108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3856" y="2188707"/>
            <a:ext cx="183794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型の定義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" y="2502529"/>
            <a:ext cx="18379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主要パターンを選定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27248" y="2274295"/>
            <a:ext cx="1313688" cy="274320"/>
          </a:xfrm>
          <a:prstGeom prst="rect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9544" y="2306299"/>
            <a:ext cx="1149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標準レイアウトを定義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" y="2944733"/>
            <a:ext cx="3108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3856" y="2901939"/>
            <a:ext cx="183794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実装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" y="3215761"/>
            <a:ext cx="18379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rendererを整備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29812" y="2987527"/>
            <a:ext cx="2016252" cy="274320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12108" y="3019531"/>
            <a:ext cx="18516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生成・検証機能を実装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8096" y="3657965"/>
            <a:ext cx="3108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" y="3615171"/>
            <a:ext cx="183794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現場検証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33856" y="3928993"/>
            <a:ext cx="18379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複数部門で試行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34940" y="3700759"/>
            <a:ext cx="2718816" cy="274320"/>
          </a:xfrm>
          <a:prstGeom prst="rect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17236" y="3732763"/>
            <a:ext cx="2554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パイロット運用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8096" y="4371197"/>
            <a:ext cx="3108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3856" y="4328403"/>
            <a:ext cx="183794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改善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3856" y="4642225"/>
            <a:ext cx="18379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利用結果を反映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42632" y="4413991"/>
            <a:ext cx="2016251" cy="274320"/>
          </a:xfrm>
          <a:prstGeom prst="rect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24928" y="4445995"/>
            <a:ext cx="18516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品質・操作性を改善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8096" y="5084429"/>
            <a:ext cx="3108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33856" y="5041635"/>
            <a:ext cx="183794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標準化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" y="5355457"/>
            <a:ext cx="18379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全社手順へ組込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50324" y="5127223"/>
            <a:ext cx="2016251" cy="274320"/>
          </a:xfrm>
          <a:prstGeom prst="rect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532620" y="5159227"/>
            <a:ext cx="18516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標準運用へ移行</a:t>
            </a:r>
          </a:p>
        </p:txBody>
      </p:sp>
      <p:sp>
        <p:nvSpPr>
          <p:cNvPr id="80" name="Diamond 79"/>
          <p:cNvSpPr/>
          <p:nvPr/>
        </p:nvSpPr>
        <p:spPr>
          <a:xfrm>
            <a:off x="4066794" y="2116835"/>
            <a:ext cx="137160" cy="137160"/>
          </a:xfrm>
          <a:prstGeom prst="diamond">
            <a:avLst/>
          </a:prstGeom>
          <a:solidFill>
            <a:srgbClr val="C75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573322" y="2588117"/>
            <a:ext cx="1124102" cy="164592"/>
          </a:xfrm>
          <a:prstGeom prst="rect">
            <a:avLst/>
          </a:prstGeom>
          <a:solidFill>
            <a:srgbClr val="FFFFFC"/>
          </a:solidFill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型レビュー</a:t>
            </a:r>
          </a:p>
        </p:txBody>
      </p:sp>
      <p:sp>
        <p:nvSpPr>
          <p:cNvPr id="82" name="Diamond 81"/>
          <p:cNvSpPr/>
          <p:nvPr/>
        </p:nvSpPr>
        <p:spPr>
          <a:xfrm>
            <a:off x="7579614" y="3543299"/>
            <a:ext cx="137160" cy="137160"/>
          </a:xfrm>
          <a:prstGeom prst="diamond">
            <a:avLst/>
          </a:prstGeom>
          <a:solidFill>
            <a:srgbClr val="C75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086142" y="4014581"/>
            <a:ext cx="1124102" cy="164592"/>
          </a:xfrm>
          <a:prstGeom prst="rect">
            <a:avLst/>
          </a:prstGeom>
          <a:solidFill>
            <a:srgbClr val="FFFFFC"/>
          </a:solidFill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展開判断</a:t>
            </a:r>
          </a:p>
        </p:txBody>
      </p:sp>
      <p:sp>
        <p:nvSpPr>
          <p:cNvPr id="84" name="Diamond 83"/>
          <p:cNvSpPr/>
          <p:nvPr/>
        </p:nvSpPr>
        <p:spPr>
          <a:xfrm>
            <a:off x="11092434" y="4969764"/>
            <a:ext cx="137160" cy="137160"/>
          </a:xfrm>
          <a:prstGeom prst="diamond">
            <a:avLst/>
          </a:prstGeom>
          <a:solidFill>
            <a:srgbClr val="C75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388193" y="5441045"/>
            <a:ext cx="1124102" cy="164592"/>
          </a:xfrm>
          <a:prstGeom prst="rect">
            <a:avLst/>
          </a:prstGeom>
          <a:solidFill>
            <a:srgbClr val="FFFFFC"/>
          </a:solidFill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標準化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C9D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405872" y="6382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6324F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009376" y="6391656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年間プログラム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5つの改善テーマと並行作業を、年間計画として俯瞰する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2542032" cy="402336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55064"/>
            <a:ext cx="22128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テーマ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591056"/>
            <a:ext cx="8311896" cy="402336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4月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93058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5月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5716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6月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8374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7月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1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8月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3690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9月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6348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10月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9005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11月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1663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12月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4322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1月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26980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2月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9638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3月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1993392"/>
            <a:ext cx="10853928" cy="457200"/>
          </a:xfrm>
          <a:prstGeom prst="rect">
            <a:avLst/>
          </a:prstGeom>
          <a:solidFill>
            <a:srgbClr val="FFF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2478024"/>
            <a:ext cx="10853928" cy="76809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273552"/>
            <a:ext cx="10853928" cy="1078992"/>
          </a:xfrm>
          <a:prstGeom prst="rect">
            <a:avLst/>
          </a:prstGeom>
          <a:solidFill>
            <a:srgbClr val="FFF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379976"/>
            <a:ext cx="10853928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864608"/>
            <a:ext cx="10853928" cy="768096"/>
          </a:xfrm>
          <a:prstGeom prst="rect">
            <a:avLst/>
          </a:prstGeom>
          <a:solidFill>
            <a:srgbClr val="FFF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3200400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93058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85716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78374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71031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663690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356348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049005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741663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434322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126980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819638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512296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58368" y="1993392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68096" y="2093976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" y="2075688"/>
            <a:ext cx="1938527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利用部門の拡大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405568" y="2098548"/>
            <a:ext cx="1667637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594735" y="2130552"/>
            <a:ext cx="1289304" cy="246888"/>
          </a:xfrm>
          <a:prstGeom prst="rect">
            <a:avLst/>
          </a:prstGeom>
          <a:solidFill>
            <a:srgbClr val="FFFFFC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対象業務の選定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427338" y="2098548"/>
            <a:ext cx="3052954" cy="0"/>
          </a:xfrm>
          <a:prstGeom prst="line">
            <a:avLst/>
          </a:prstGeom>
          <a:ln w="17780">
            <a:solidFill>
              <a:srgbClr val="C758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309163" y="2130552"/>
            <a:ext cx="1289304" cy="246888"/>
          </a:xfrm>
          <a:prstGeom prst="rect">
            <a:avLst/>
          </a:prstGeom>
          <a:solidFill>
            <a:srgbClr val="FFFFFC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追加部門へ展開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58368" y="2478024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68096" y="2578608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" y="2560320"/>
            <a:ext cx="1938527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デザイン標準化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232404" y="2583180"/>
            <a:ext cx="2013966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594735" y="2615184"/>
            <a:ext cx="1289304" cy="246888"/>
          </a:xfrm>
          <a:prstGeom prst="rect">
            <a:avLst/>
          </a:prstGeom>
          <a:solidFill>
            <a:srgbClr val="ECEAE4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利用要件の整理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617720" y="2894076"/>
            <a:ext cx="2706624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326379" y="2926079"/>
            <a:ext cx="1289304" cy="246888"/>
          </a:xfrm>
          <a:prstGeom prst="rect">
            <a:avLst/>
          </a:prstGeom>
          <a:solidFill>
            <a:srgbClr val="ECEAE4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共通仕様の策定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310378" y="2583180"/>
            <a:ext cx="2706623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019038" y="2615184"/>
            <a:ext cx="1289304" cy="246888"/>
          </a:xfrm>
          <a:prstGeom prst="rect">
            <a:avLst/>
          </a:prstGeom>
          <a:solidFill>
            <a:srgbClr val="ECEAE4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試行版の検証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58368" y="3273552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8096" y="3374136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3856" y="3355848"/>
            <a:ext cx="1938527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運用基盤の再設計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232404" y="3378708"/>
            <a:ext cx="1321308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248406" y="3410712"/>
            <a:ext cx="1289304" cy="246888"/>
          </a:xfrm>
          <a:prstGeom prst="rect">
            <a:avLst/>
          </a:prstGeom>
          <a:solidFill>
            <a:srgbClr val="FFFFFC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現状調査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617720" y="3378708"/>
            <a:ext cx="2706624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326379" y="3410712"/>
            <a:ext cx="1289304" cy="246888"/>
          </a:xfrm>
          <a:prstGeom prst="rect">
            <a:avLst/>
          </a:prstGeom>
          <a:solidFill>
            <a:srgbClr val="FFFFFC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移行方針の策定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310378" y="3689604"/>
            <a:ext cx="2706623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019038" y="3721608"/>
            <a:ext cx="1289304" cy="246888"/>
          </a:xfrm>
          <a:prstGeom prst="rect">
            <a:avLst/>
          </a:prstGeom>
          <a:solidFill>
            <a:srgbClr val="FFFFFC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新環境の構築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003036" y="4000500"/>
            <a:ext cx="628650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816155" y="4032504"/>
            <a:ext cx="1002411" cy="246888"/>
          </a:xfrm>
          <a:prstGeom prst="rect">
            <a:avLst/>
          </a:prstGeom>
          <a:solidFill>
            <a:srgbClr val="FFFFFC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運用リハーサル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695694" y="4000500"/>
            <a:ext cx="1321307" cy="0"/>
          </a:xfrm>
          <a:prstGeom prst="line">
            <a:avLst/>
          </a:prstGeom>
          <a:ln w="17780">
            <a:solidFill>
              <a:srgbClr val="C758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855142" y="4032504"/>
            <a:ext cx="1002410" cy="246888"/>
          </a:xfrm>
          <a:prstGeom prst="rect">
            <a:avLst/>
          </a:prstGeom>
          <a:solidFill>
            <a:srgbClr val="FFFFFC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本番移行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773667" y="3378708"/>
            <a:ext cx="2706625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9482328" y="3410712"/>
            <a:ext cx="1289304" cy="246888"/>
          </a:xfrm>
          <a:prstGeom prst="rect">
            <a:avLst/>
          </a:prstGeom>
          <a:solidFill>
            <a:srgbClr val="FFFFFC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旧環境の停止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58368" y="4379976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68096" y="4480560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3856" y="4462272"/>
            <a:ext cx="1938527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外部サービス連携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3925062" y="4485132"/>
            <a:ext cx="1321308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941064" y="4517136"/>
            <a:ext cx="1289304" cy="246888"/>
          </a:xfrm>
          <a:prstGeom prst="rect">
            <a:avLst/>
          </a:prstGeom>
          <a:solidFill>
            <a:srgbClr val="ECEAE4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方式検討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310378" y="4485132"/>
            <a:ext cx="2013966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672708" y="4517136"/>
            <a:ext cx="1289304" cy="246888"/>
          </a:xfrm>
          <a:prstGeom prst="rect">
            <a:avLst/>
          </a:prstGeom>
          <a:solidFill>
            <a:srgbClr val="ECEAE4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接続開発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388352" y="4485132"/>
            <a:ext cx="628649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7058024" y="4517136"/>
            <a:ext cx="1289304" cy="246888"/>
          </a:xfrm>
          <a:prstGeom prst="rect">
            <a:avLst/>
          </a:prstGeom>
          <a:solidFill>
            <a:srgbClr val="ECEAE4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段階展開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58368" y="4864608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68096" y="4965192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33856" y="4946904"/>
            <a:ext cx="1938527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データ活用基盤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3925062" y="4969764"/>
            <a:ext cx="1321308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941064" y="5001768"/>
            <a:ext cx="1289304" cy="246888"/>
          </a:xfrm>
          <a:prstGeom prst="rect">
            <a:avLst/>
          </a:prstGeom>
          <a:solidFill>
            <a:srgbClr val="FFFFFC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要件定義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617720" y="5280660"/>
            <a:ext cx="2706624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326379" y="5312664"/>
            <a:ext cx="1289304" cy="246888"/>
          </a:xfrm>
          <a:prstGeom prst="rect">
            <a:avLst/>
          </a:prstGeom>
          <a:solidFill>
            <a:srgbClr val="FFFFFC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基盤構築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7388352" y="4969764"/>
            <a:ext cx="1321307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7404353" y="5001768"/>
            <a:ext cx="1289304" cy="246888"/>
          </a:xfrm>
          <a:prstGeom prst="rect">
            <a:avLst/>
          </a:prstGeom>
          <a:solidFill>
            <a:srgbClr val="FFFFFC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利用検証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8773667" y="4969764"/>
            <a:ext cx="2013967" cy="0"/>
          </a:xfrm>
          <a:prstGeom prst="line">
            <a:avLst/>
          </a:prstGeom>
          <a:ln w="17780">
            <a:solidFill>
              <a:srgbClr val="C758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9135999" y="5001768"/>
            <a:ext cx="1289304" cy="246888"/>
          </a:xfrm>
          <a:prstGeom prst="rect">
            <a:avLst/>
          </a:prstGeom>
          <a:solidFill>
            <a:srgbClr val="FFFFFC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全社展開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58368" y="5632704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502920" y="6053328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月途中の開始・終了は1/4月単位で表現する。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C9D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05872" y="6382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6324F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09376" y="6391656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優先度整理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提出品質と再利用性から、整備優先度を決める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2029968"/>
            <a:ext cx="9601200" cy="3675887"/>
          </a:xfrm>
          <a:prstGeom prst="rect">
            <a:avLst/>
          </a:prstGeom>
          <a:solidFill>
            <a:srgbClr val="FFFFFC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36792" y="2029968"/>
            <a:ext cx="4800600" cy="1837943"/>
          </a:xfrm>
          <a:prstGeom prst="rect">
            <a:avLst/>
          </a:prstGeom>
          <a:solidFill>
            <a:srgbClr val="DF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00784" y="53218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個別対応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53218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再利用候補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784" y="21945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品質改善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1945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優先整備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36192" y="5705856"/>
            <a:ext cx="9601200" cy="0"/>
          </a:xfrm>
          <a:prstGeom prst="line">
            <a:avLst/>
          </a:prstGeom>
          <a:ln w="2222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536192" y="2029968"/>
            <a:ext cx="0" cy="3675888"/>
          </a:xfrm>
          <a:prstGeom prst="line">
            <a:avLst/>
          </a:prstGeom>
          <a:ln w="2222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851392" y="58521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1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再利用性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168249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↑ 提出品質</a:t>
            </a:r>
          </a:p>
        </p:txBody>
      </p:sp>
      <p:sp>
        <p:nvSpPr>
          <p:cNvPr id="15" name="Oval 14"/>
          <p:cNvSpPr/>
          <p:nvPr/>
        </p:nvSpPr>
        <p:spPr>
          <a:xfrm>
            <a:off x="3127248" y="3436680"/>
            <a:ext cx="274320" cy="274320"/>
          </a:xfrm>
          <a:prstGeom prst="ellipse">
            <a:avLst/>
          </a:prstGeom>
          <a:solidFill>
            <a:srgbClr val="0D7870"/>
          </a:solidFill>
          <a:ln w="12700">
            <a:solidFill>
              <a:srgbClr val="FFF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11896" y="2775021"/>
            <a:ext cx="274320" cy="274320"/>
          </a:xfrm>
          <a:prstGeom prst="ellipse">
            <a:avLst/>
          </a:prstGeom>
          <a:solidFill>
            <a:srgbClr val="C7583E"/>
          </a:solidFill>
          <a:ln w="12700">
            <a:solidFill>
              <a:srgbClr val="FFF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27848" y="3142609"/>
            <a:ext cx="274320" cy="274320"/>
          </a:xfrm>
          <a:prstGeom prst="ellipse">
            <a:avLst/>
          </a:prstGeom>
          <a:solidFill>
            <a:srgbClr val="0D7870"/>
          </a:solidFill>
          <a:ln w="12700">
            <a:solidFill>
              <a:srgbClr val="FFF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23559" y="3289645"/>
            <a:ext cx="274320" cy="274320"/>
          </a:xfrm>
          <a:prstGeom prst="ellipse">
            <a:avLst/>
          </a:prstGeom>
          <a:solidFill>
            <a:srgbClr val="0D7870"/>
          </a:solidFill>
          <a:ln w="12700">
            <a:solidFill>
              <a:srgbClr val="FFF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59451" y="2407432"/>
            <a:ext cx="274320" cy="274320"/>
          </a:xfrm>
          <a:prstGeom prst="ellipse">
            <a:avLst/>
          </a:prstGeom>
          <a:solidFill>
            <a:srgbClr val="0D7870"/>
          </a:solidFill>
          <a:ln w="12700">
            <a:solidFill>
              <a:srgbClr val="FFF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19272" y="4392411"/>
            <a:ext cx="274320" cy="274320"/>
          </a:xfrm>
          <a:prstGeom prst="ellipse">
            <a:avLst/>
          </a:prstGeom>
          <a:solidFill>
            <a:srgbClr val="0D7870"/>
          </a:solidFill>
          <a:ln w="12700">
            <a:solidFill>
              <a:srgbClr val="FFF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0008" y="3125784"/>
            <a:ext cx="182880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タイトル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6" y="2464125"/>
            <a:ext cx="182880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lang="ja-JP">
                <a:solidFill>
                  <a:srgbClr val="C7583E"/>
                </a:solidFill>
                <a:latin typeface="Yu Gothic"/>
                <a:ea typeface="Yu Gothic"/>
                <a:cs typeface="Yu Gothic"/>
              </a:rPr>
              <a:t>要点列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3444361"/>
            <a:ext cx="182880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比較表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7" y="3554821"/>
            <a:ext cx="182880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ロードマップ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82211" y="2096536"/>
            <a:ext cx="182880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高密度構成図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2032" y="4081515"/>
            <a:ext cx="1828800" cy="2834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自由配置図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053328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位置づけはテンプレート整備の優先度を示すサンプル。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C9D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5872" y="6382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6324F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9376" y="6391656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関係者調整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運用事務局を中心に、5部門の役割をつなぐ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8" y="2592324"/>
            <a:ext cx="0" cy="781812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7176017" y="3406003"/>
            <a:ext cx="2580030" cy="316202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6812146" y="4224409"/>
            <a:ext cx="1461842" cy="758932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924107" y="4224409"/>
            <a:ext cx="1461842" cy="758932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42048" y="3406003"/>
            <a:ext cx="2580030" cy="316202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85866" y="3160908"/>
            <a:ext cx="626364" cy="17627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効果報告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438" y="3501262"/>
            <a:ext cx="770382" cy="17627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権限 / 監査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928" y="4455022"/>
            <a:ext cx="770382" cy="17627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要件 / 評価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1928" y="4455022"/>
            <a:ext cx="760095" cy="17627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利用ルール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5284" y="3501262"/>
            <a:ext cx="626364" cy="17627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表現基準</a:t>
            </a:r>
          </a:p>
        </p:txBody>
      </p:sp>
      <p:pic>
        <p:nvPicPr>
          <p:cNvPr id="15" name="Picture 14" descr="brief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988820"/>
            <a:ext cx="585216" cy="5852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21870" y="2652648"/>
            <a:ext cx="554355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経営層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913507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方針承認</a:t>
            </a:r>
          </a:p>
        </p:txBody>
      </p:sp>
      <p:pic>
        <p:nvPicPr>
          <p:cNvPr id="18" name="Picture 17" descr="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026" y="3075575"/>
            <a:ext cx="585216" cy="5852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55999" y="3739404"/>
            <a:ext cx="101727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情報システム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2026" y="4000262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環境管理</a:t>
            </a:r>
          </a:p>
        </p:txBody>
      </p:sp>
      <p:pic>
        <p:nvPicPr>
          <p:cNvPr id="21" name="Picture 20" descr="t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307" y="4833984"/>
            <a:ext cx="585216" cy="58521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95585" y="4327381"/>
            <a:ext cx="70866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現場部門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9029" y="4588239"/>
            <a:ext cx="461772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利用者</a:t>
            </a:r>
          </a:p>
        </p:txBody>
      </p:sp>
      <p:pic>
        <p:nvPicPr>
          <p:cNvPr id="24" name="Picture 23" descr="shield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572" y="4833984"/>
            <a:ext cx="585216" cy="58521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448155" y="4327381"/>
            <a:ext cx="40005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法務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5572" y="4588239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規程確認</a:t>
            </a:r>
          </a:p>
        </p:txBody>
      </p:sp>
      <p:pic>
        <p:nvPicPr>
          <p:cNvPr id="27" name="Picture 26" descr="s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0853" y="3075575"/>
            <a:ext cx="585216" cy="58521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933436" y="3739404"/>
            <a:ext cx="40005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広報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40853" y="4000262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ブランド</a:t>
            </a:r>
          </a:p>
        </p:txBody>
      </p:sp>
      <p:sp>
        <p:nvSpPr>
          <p:cNvPr id="30" name="Oval 29"/>
          <p:cNvSpPr/>
          <p:nvPr/>
        </p:nvSpPr>
        <p:spPr>
          <a:xfrm>
            <a:off x="4978908" y="3374136"/>
            <a:ext cx="2240280" cy="960120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78908" y="3570732"/>
            <a:ext cx="2240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テンプレート</a:t>
            </a:r>
          </a:p>
          <a:p>
            <a:pPr algn="ctr">
              <a:lnSpc>
                <a:spcPct val="130000"/>
              </a:lnSpc>
            </a:pPr>
            <a:r>
              <a:rPr sz="13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運用事務局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C9D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5872" y="6382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6324F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9376" y="6391656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推進体制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事業・技術の共同責任者から、実行組織へ権限をつなぐ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67379" y="2441448"/>
            <a:ext cx="6648527" cy="0"/>
          </a:xfrm>
          <a:prstGeom prst="line">
            <a:avLst/>
          </a:prstGeom>
          <a:ln w="13970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67379" y="2286000"/>
            <a:ext cx="0" cy="155448"/>
          </a:xfrm>
          <a:prstGeom prst="line">
            <a:avLst/>
          </a:prstGeom>
          <a:ln w="13970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924315" y="2286000"/>
            <a:ext cx="0" cy="155448"/>
          </a:xfrm>
          <a:prstGeom prst="line">
            <a:avLst/>
          </a:prstGeom>
          <a:ln w="13970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847" y="2441448"/>
            <a:ext cx="0" cy="155448"/>
          </a:xfrm>
          <a:prstGeom prst="line">
            <a:avLst/>
          </a:prstGeom>
          <a:ln w="13970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915906" y="2441448"/>
            <a:ext cx="0" cy="155448"/>
          </a:xfrm>
          <a:prstGeom prst="line">
            <a:avLst/>
          </a:prstGeom>
          <a:ln w="13970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324557" y="3520439"/>
            <a:ext cx="7591349" cy="0"/>
          </a:xfrm>
          <a:prstGeom prst="line">
            <a:avLst/>
          </a:prstGeom>
          <a:ln w="13970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5847" y="3364991"/>
            <a:ext cx="0" cy="155448"/>
          </a:xfrm>
          <a:prstGeom prst="line">
            <a:avLst/>
          </a:prstGeom>
          <a:ln w="13970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915906" y="3364991"/>
            <a:ext cx="0" cy="155448"/>
          </a:xfrm>
          <a:prstGeom prst="line">
            <a:avLst/>
          </a:prstGeom>
          <a:ln w="13970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24557" y="3520439"/>
            <a:ext cx="0" cy="155448"/>
          </a:xfrm>
          <a:prstGeom prst="line">
            <a:avLst/>
          </a:prstGeom>
          <a:ln w="13970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5847" y="3520439"/>
            <a:ext cx="0" cy="155448"/>
          </a:xfrm>
          <a:prstGeom prst="line">
            <a:avLst/>
          </a:prstGeom>
          <a:ln w="13970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867138" y="3520439"/>
            <a:ext cx="0" cy="155448"/>
          </a:xfrm>
          <a:prstGeom prst="line">
            <a:avLst/>
          </a:prstGeom>
          <a:ln w="13970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07943" y="4983479"/>
            <a:ext cx="6659195" cy="0"/>
          </a:xfrm>
          <a:prstGeom prst="line">
            <a:avLst/>
          </a:prstGeom>
          <a:ln w="13970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5847" y="4828031"/>
            <a:ext cx="0" cy="155448"/>
          </a:xfrm>
          <a:prstGeom prst="line">
            <a:avLst/>
          </a:prstGeom>
          <a:ln w="13970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67138" y="4828031"/>
            <a:ext cx="0" cy="155448"/>
          </a:xfrm>
          <a:prstGeom prst="line">
            <a:avLst/>
          </a:prstGeom>
          <a:ln w="13970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07943" y="4983479"/>
            <a:ext cx="0" cy="155448"/>
          </a:xfrm>
          <a:prstGeom prst="line">
            <a:avLst/>
          </a:prstGeom>
          <a:ln w="13970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94360" y="1517904"/>
            <a:ext cx="5346039" cy="768096"/>
          </a:xfrm>
          <a:prstGeom prst="rect">
            <a:avLst/>
          </a:prstGeom>
          <a:solidFill>
            <a:srgbClr val="182C43"/>
          </a:solidFill>
          <a:ln w="952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1581912"/>
            <a:ext cx="509000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事業責任者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1847088"/>
            <a:ext cx="5090007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lang="ja-JP">
                <a:solidFill>
                  <a:srgbClr val="DFEBE8"/>
                </a:solidFill>
                <a:latin typeface="Yu Gothic"/>
                <a:ea typeface="Yu Gothic"/>
                <a:cs typeface="Yu Gothic"/>
              </a:rPr>
              <a:t>投資・優先度を決定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1295" y="1517904"/>
            <a:ext cx="5346039" cy="768096"/>
          </a:xfrm>
          <a:prstGeom prst="rect">
            <a:avLst/>
          </a:prstGeom>
          <a:solidFill>
            <a:srgbClr val="182C43"/>
          </a:solidFill>
          <a:ln w="952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9311" y="1581912"/>
            <a:ext cx="509000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技術責任者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9311" y="1847088"/>
            <a:ext cx="5090007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lang="ja-JP">
                <a:solidFill>
                  <a:srgbClr val="DFEBE8"/>
                </a:solidFill>
                <a:latin typeface="Yu Gothic"/>
                <a:ea typeface="Yu Gothic"/>
                <a:cs typeface="Yu Gothic"/>
              </a:rPr>
              <a:t>技術方針・品質を決定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596896"/>
            <a:ext cx="3362858" cy="768096"/>
          </a:xfrm>
          <a:prstGeom prst="rect">
            <a:avLst/>
          </a:prstGeom>
          <a:solidFill>
            <a:srgbClr val="ECEAE4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2660903"/>
            <a:ext cx="310682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外部アドバイザー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2926079"/>
            <a:ext cx="310682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専門知見を提供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14418" y="2596896"/>
            <a:ext cx="3362858" cy="768096"/>
          </a:xfrm>
          <a:prstGeom prst="rect">
            <a:avLst/>
          </a:prstGeom>
          <a:solidFill>
            <a:srgbClr val="FFFFFC"/>
          </a:solidFill>
          <a:ln w="9525">
            <a:solidFill>
              <a:srgbClr val="0D7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42434" y="2660903"/>
            <a:ext cx="310682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プログラムPM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2434" y="2926079"/>
            <a:ext cx="310682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全体計画と課題を統括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34476" y="2596896"/>
            <a:ext cx="3362858" cy="768096"/>
          </a:xfrm>
          <a:prstGeom prst="rect">
            <a:avLst/>
          </a:prstGeom>
          <a:solidFill>
            <a:srgbClr val="FFFFFC"/>
          </a:solidFill>
          <a:ln w="9525">
            <a:solidFill>
              <a:srgbClr val="0D7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2492" y="2660903"/>
            <a:ext cx="310682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アーキテクト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2492" y="2926079"/>
            <a:ext cx="310682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方式・非機能を統括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3675887"/>
            <a:ext cx="3460394" cy="1152144"/>
          </a:xfrm>
          <a:prstGeom prst="rect">
            <a:avLst/>
          </a:prstGeom>
          <a:solidFill>
            <a:srgbClr val="FFFFFC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" y="3739896"/>
            <a:ext cx="320436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業務設計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4005072"/>
            <a:ext cx="3204362" cy="44805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要件・運用設計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" y="4489703"/>
            <a:ext cx="3167786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553712"/>
            <a:ext cx="318607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企画 / 現場代表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65650" y="3675887"/>
            <a:ext cx="3460394" cy="1152144"/>
          </a:xfrm>
          <a:prstGeom prst="rect">
            <a:avLst/>
          </a:prstGeom>
          <a:solidFill>
            <a:srgbClr val="FFFFFC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93666" y="3739896"/>
            <a:ext cx="320436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開発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93666" y="4005072"/>
            <a:ext cx="3204362" cy="44805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実装・試験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11954" y="4489703"/>
            <a:ext cx="3167786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02810" y="4553712"/>
            <a:ext cx="318607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アプリ / 基盤 / QA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6940" y="3675887"/>
            <a:ext cx="3460394" cy="1152144"/>
          </a:xfrm>
          <a:prstGeom prst="rect">
            <a:avLst/>
          </a:prstGeom>
          <a:solidFill>
            <a:srgbClr val="FFFFFC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64956" y="3739896"/>
            <a:ext cx="320436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展開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4956" y="4005072"/>
            <a:ext cx="3204362" cy="44805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教育・移行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83244" y="4489703"/>
            <a:ext cx="3167786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4100" y="4553712"/>
            <a:ext cx="318607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PMO / 部門窓口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5138927"/>
            <a:ext cx="5227167" cy="768096"/>
          </a:xfrm>
          <a:prstGeom prst="rect">
            <a:avLst/>
          </a:prstGeom>
          <a:solidFill>
            <a:srgbClr val="FFFFFC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2376" y="5202936"/>
            <a:ext cx="497113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運用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" y="5468112"/>
            <a:ext cx="4971135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監視・改善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70167" y="5138927"/>
            <a:ext cx="5227167" cy="768096"/>
          </a:xfrm>
          <a:prstGeom prst="rect">
            <a:avLst/>
          </a:prstGeom>
          <a:solidFill>
            <a:srgbClr val="FFFFFC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8183" y="5202936"/>
            <a:ext cx="497113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セキュリティ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8183" y="5468112"/>
            <a:ext cx="4971135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審査・監査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012082" y="2980944"/>
            <a:ext cx="347472" cy="0"/>
          </a:xfrm>
          <a:prstGeom prst="line">
            <a:avLst/>
          </a:prstGeom>
          <a:ln w="13970">
            <a:prstDash val="dash"/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5876391" y="5522975"/>
            <a:ext cx="219456" cy="0"/>
          </a:xfrm>
          <a:prstGeom prst="line">
            <a:avLst/>
          </a:prstGeom>
          <a:ln w="13970">
            <a:prstDash val="dash"/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095847" y="5522975"/>
            <a:ext cx="219456" cy="0"/>
          </a:xfrm>
          <a:prstGeom prst="line">
            <a:avLst/>
          </a:prstGeom>
          <a:ln w="13970">
            <a:prstDash val="dash"/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026941" y="2784411"/>
            <a:ext cx="317754" cy="15532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助言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36970" y="5326443"/>
            <a:ext cx="317754" cy="15532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連携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C9D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05872" y="6382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6324F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09376" y="6391656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構成図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主要コンポーネントとデータの流れを短く示す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2906191" y="1539849"/>
            <a:ext cx="6390170" cy="4306823"/>
          </a:xfrm>
          <a:prstGeom prst="rect">
            <a:avLst/>
          </a:prstGeom>
          <a:noFill/>
          <a:ln w="15875">
            <a:solidFill>
              <a:srgbClr val="6C7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5919" y="1594713"/>
            <a:ext cx="8549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C7372"/>
                </a:solidFill>
                <a:latin typeface="Yu Gothic"/>
                <a:ea typeface="Yu Gothic"/>
                <a:cs typeface="Yu Gothic"/>
              </a:rPr>
              <a:t>AWS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3180511" y="2783433"/>
            <a:ext cx="3713721" cy="1819655"/>
          </a:xfrm>
          <a:prstGeom prst="rect">
            <a:avLst/>
          </a:prstGeom>
          <a:noFill/>
          <a:ln w="15875">
            <a:prstDash val="dash"/>
            <a:solidFill>
              <a:srgbClr val="0D7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0239" y="2838297"/>
            <a:ext cx="10195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VPC (private)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38528" y="3615537"/>
            <a:ext cx="1571167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86351" y="3615537"/>
            <a:ext cx="1571168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34175" y="3377793"/>
            <a:ext cx="785584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219759" y="2371953"/>
            <a:ext cx="0" cy="100584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19759" y="2371953"/>
            <a:ext cx="785584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34175" y="3615537"/>
            <a:ext cx="1571168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34175" y="3853281"/>
            <a:ext cx="785584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19759" y="3853281"/>
            <a:ext cx="0" cy="100584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219759" y="4859121"/>
            <a:ext cx="785584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681999" y="3615537"/>
            <a:ext cx="1571168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3332073"/>
            <a:ext cx="566928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1565" y="3977614"/>
            <a:ext cx="101727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社内ユーザー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4238472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ブラウザ</a:t>
            </a:r>
          </a:p>
        </p:txBody>
      </p:sp>
      <p:pic>
        <p:nvPicPr>
          <p:cNvPr id="22" name="Picture 21" descr="a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59" y="3332073"/>
            <a:ext cx="566928" cy="5669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47998" y="3977614"/>
            <a:ext cx="40005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ALB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1707" y="4238472"/>
            <a:ext cx="492633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内部LB</a:t>
            </a:r>
          </a:p>
        </p:txBody>
      </p:sp>
      <p:pic>
        <p:nvPicPr>
          <p:cNvPr id="25" name="Picture 24" descr="farg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383" y="3332073"/>
            <a:ext cx="566928" cy="5669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71782" y="3977614"/>
            <a:ext cx="1048131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ECS Fargate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2333" y="4238472"/>
            <a:ext cx="1367028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生成API (python-pptx)</a:t>
            </a:r>
          </a:p>
        </p:txBody>
      </p:sp>
      <p:pic>
        <p:nvPicPr>
          <p:cNvPr id="28" name="Picture 27" descr="bedr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0207" y="2088489"/>
            <a:ext cx="566928" cy="5669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665300" y="2734030"/>
            <a:ext cx="1356741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Amazon Bedrock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4152" y="2994888"/>
            <a:ext cx="143903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Claude (構成JSON生成)</a:t>
            </a:r>
          </a:p>
        </p:txBody>
      </p:sp>
      <p:pic>
        <p:nvPicPr>
          <p:cNvPr id="31" name="Picture 30" descr="s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0207" y="3332073"/>
            <a:ext cx="566928" cy="5669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81327" y="3977614"/>
            <a:ext cx="924687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Amazon S3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1592" y="4238472"/>
            <a:ext cx="1264158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テンプレート/成果物</a:t>
            </a:r>
          </a:p>
        </p:txBody>
      </p:sp>
      <p:pic>
        <p:nvPicPr>
          <p:cNvPr id="34" name="Picture 33" descr="cloudwat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0207" y="4575657"/>
            <a:ext cx="566928" cy="5669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45323" y="5221198"/>
            <a:ext cx="996696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CloudWatch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5897" y="5482056"/>
            <a:ext cx="95554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ログ・監査証跡</a:t>
            </a:r>
          </a:p>
        </p:txBody>
      </p:sp>
      <p:pic>
        <p:nvPicPr>
          <p:cNvPr id="37" name="Picture 36" descr="us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8031" y="3332073"/>
            <a:ext cx="566928" cy="5669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237165" y="3977614"/>
            <a:ext cx="70866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利用部門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75443" y="4238472"/>
            <a:ext cx="832104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ダウンロード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7508" y="3378936"/>
            <a:ext cx="51320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HTTPS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7151" y="2793720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構成生成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27151" y="3378936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読み書き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74975" y="3378936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署名URL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053328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AWSアイコンは slidegen/assets/icons/aws/ から読み込む。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C9D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05872" y="6382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6324F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9376" y="6391656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高密度構成図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高密度なAWS構成も、グリッド仕様で自動配置する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6652" y="1342430"/>
            <a:ext cx="8707511" cy="4753051"/>
          </a:xfrm>
          <a:prstGeom prst="rect">
            <a:avLst/>
          </a:prstGeom>
          <a:noFill/>
          <a:ln w="15875">
            <a:solidFill>
              <a:srgbClr val="6C7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66380" y="1397294"/>
            <a:ext cx="8549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C7372"/>
                </a:solidFill>
                <a:latin typeface="Yu Gothic"/>
                <a:ea typeface="Yu Gothic"/>
                <a:cs typeface="Yu Gothic"/>
              </a:rPr>
              <a:t>AWS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3957706" y="2384846"/>
            <a:ext cx="6084829" cy="3505809"/>
          </a:xfrm>
          <a:prstGeom prst="rect">
            <a:avLst/>
          </a:prstGeom>
          <a:noFill/>
          <a:ln w="1587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7434" y="2439710"/>
            <a:ext cx="161620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VPC (private subnets)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0042" y="3573566"/>
            <a:ext cx="1673352" cy="2295143"/>
          </a:xfrm>
          <a:prstGeom prst="rect">
            <a:avLst/>
          </a:prstGeom>
          <a:noFill/>
          <a:ln w="15875">
            <a:prstDash val="dash"/>
            <a:solidFill>
              <a:srgbClr val="6C7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9770" y="3628430"/>
            <a:ext cx="4126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C7372"/>
                </a:solidFill>
                <a:latin typeface="Yu Gothic"/>
                <a:ea typeface="Yu Gothic"/>
                <a:cs typeface="Yu Gothic"/>
              </a:rPr>
              <a:t>AZ-a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6273" y="3573566"/>
            <a:ext cx="1693925" cy="2295143"/>
          </a:xfrm>
          <a:prstGeom prst="rect">
            <a:avLst/>
          </a:prstGeom>
          <a:noFill/>
          <a:ln w="15875">
            <a:prstDash val="dash"/>
            <a:solidFill>
              <a:srgbClr val="6C7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56001" y="3628430"/>
            <a:ext cx="4126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C7372"/>
                </a:solidFill>
                <a:latin typeface="Yu Gothic"/>
                <a:ea typeface="Yu Gothic"/>
                <a:cs typeface="Yu Gothic"/>
              </a:rPr>
              <a:t>AZ-c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38528" y="2979206"/>
            <a:ext cx="1121603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98459" y="2311694"/>
            <a:ext cx="0" cy="329184"/>
          </a:xfrm>
          <a:prstGeom prst="line">
            <a:avLst/>
          </a:prstGeom>
          <a:ln w="15875">
            <a:prstDash val="dash"/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736787" y="2979206"/>
            <a:ext cx="2919862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94977" y="3317534"/>
            <a:ext cx="0" cy="45720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196718" y="3774734"/>
            <a:ext cx="1798259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96718" y="3774734"/>
            <a:ext cx="0" cy="109728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94977" y="3317534"/>
            <a:ext cx="0" cy="45720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4977" y="3774734"/>
            <a:ext cx="1798259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93236" y="3774734"/>
            <a:ext cx="0" cy="109728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250314" y="4222790"/>
            <a:ext cx="608076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50314" y="4222790"/>
            <a:ext cx="0" cy="100584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250314" y="5228630"/>
            <a:ext cx="608076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793236" y="4561118"/>
            <a:ext cx="0" cy="4572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793236" y="4606838"/>
            <a:ext cx="956691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749927" y="4606838"/>
            <a:ext cx="0" cy="621792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9131564" y="5228630"/>
            <a:ext cx="618363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535046" y="5228630"/>
            <a:ext cx="2919862" cy="0"/>
          </a:xfrm>
          <a:prstGeom prst="line">
            <a:avLst/>
          </a:prstGeom>
          <a:ln w="19050">
            <a:prstDash val="dash"/>
            <a:solidFill>
              <a:srgbClr val="6C737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31564" y="4222790"/>
            <a:ext cx="819531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951095" y="2979206"/>
            <a:ext cx="0" cy="1243584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951095" y="2979206"/>
            <a:ext cx="302072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042535" y="5228630"/>
            <a:ext cx="210632" cy="0"/>
          </a:xfrm>
          <a:prstGeom prst="line">
            <a:avLst/>
          </a:prstGeom>
          <a:ln w="15875">
            <a:prstDash val="dash"/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2695742"/>
            <a:ext cx="566928" cy="5669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91565" y="3341283"/>
            <a:ext cx="101727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社内ユーザー</a:t>
            </a:r>
          </a:p>
        </p:txBody>
      </p:sp>
      <p:pic>
        <p:nvPicPr>
          <p:cNvPr id="36" name="Picture 35" descr="route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995" y="1689902"/>
            <a:ext cx="566928" cy="5669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018411" y="2335443"/>
            <a:ext cx="760095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Route 53</a:t>
            </a:r>
          </a:p>
        </p:txBody>
      </p:sp>
      <p:pic>
        <p:nvPicPr>
          <p:cNvPr id="38" name="Picture 37" descr="cloud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995" y="2695742"/>
            <a:ext cx="566928" cy="5669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930972" y="3341283"/>
            <a:ext cx="934974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CloudFront</a:t>
            </a:r>
          </a:p>
        </p:txBody>
      </p:sp>
      <p:pic>
        <p:nvPicPr>
          <p:cNvPr id="40" name="Picture 39" descr="a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513" y="2695742"/>
            <a:ext cx="566928" cy="56692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794952" y="3341283"/>
            <a:ext cx="40005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ALB</a:t>
            </a:r>
          </a:p>
        </p:txBody>
      </p:sp>
      <p:pic>
        <p:nvPicPr>
          <p:cNvPr id="42" name="Picture 41" descr="farg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3254" y="3939326"/>
            <a:ext cx="566928" cy="56692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852675" y="4584867"/>
            <a:ext cx="688086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Fargate</a:t>
            </a:r>
          </a:p>
        </p:txBody>
      </p:sp>
      <p:pic>
        <p:nvPicPr>
          <p:cNvPr id="44" name="Picture 43" descr="farg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9772" y="3939326"/>
            <a:ext cx="566928" cy="56692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449193" y="4584867"/>
            <a:ext cx="688086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Fargate</a:t>
            </a:r>
          </a:p>
        </p:txBody>
      </p:sp>
      <p:pic>
        <p:nvPicPr>
          <p:cNvPr id="46" name="Picture 45" descr="rd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3254" y="4945166"/>
            <a:ext cx="566928" cy="56692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616074" y="5590707"/>
            <a:ext cx="1161288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RDS (primary)</a:t>
            </a:r>
          </a:p>
        </p:txBody>
      </p:sp>
      <p:pic>
        <p:nvPicPr>
          <p:cNvPr id="48" name="Picture 47" descr="rd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772" y="4945166"/>
            <a:ext cx="566928" cy="56692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202305" y="5590707"/>
            <a:ext cx="1181862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RDS (standby)</a:t>
            </a:r>
          </a:p>
        </p:txBody>
      </p:sp>
      <p:pic>
        <p:nvPicPr>
          <p:cNvPr id="50" name="Picture 49" descr="s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8031" y="2695742"/>
            <a:ext cx="566928" cy="56692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129151" y="3341283"/>
            <a:ext cx="924687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Amazon S3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82860" y="3602141"/>
            <a:ext cx="1017270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成果物/静的配信</a:t>
            </a:r>
          </a:p>
        </p:txBody>
      </p:sp>
      <p:pic>
        <p:nvPicPr>
          <p:cNvPr id="53" name="Picture 52" descr="cloudwat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8031" y="4945166"/>
            <a:ext cx="566928" cy="56692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093147" y="5590707"/>
            <a:ext cx="996696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CloudWatch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37165" y="5851565"/>
            <a:ext cx="708660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監視・ログ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38339" y="2523149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名前解決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40114" y="2742605"/>
            <a:ext cx="51320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HTTPS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25813" y="4992029"/>
            <a:ext cx="338328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同期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20209" y="3519845"/>
            <a:ext cx="461772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成果物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C9D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05872" y="6382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6324F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09376" y="6391656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Fluentアイコン構成図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SSO・監査・バックアップを含む業務システム構成を表現する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60038" y="2652674"/>
            <a:ext cx="7714411" cy="3063239"/>
          </a:xfrm>
          <a:prstGeom prst="rect">
            <a:avLst/>
          </a:prstGeom>
          <a:noFill/>
          <a:ln w="15875">
            <a:solidFill>
              <a:srgbClr val="6C7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69766" y="2707538"/>
            <a:ext cx="10812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C7372"/>
                </a:solidFill>
                <a:latin typeface="Yu Gothic"/>
                <a:ea typeface="Yu Gothic"/>
                <a:cs typeface="Yu Gothic"/>
              </a:rPr>
              <a:t>データセンター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38528" y="3484778"/>
            <a:ext cx="2320442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935626" y="3484778"/>
            <a:ext cx="2320442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94396" y="2268626"/>
            <a:ext cx="0" cy="877824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32724" y="3484778"/>
            <a:ext cx="2320443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94396" y="3823106"/>
            <a:ext cx="0" cy="45720"/>
          </a:xfrm>
          <a:prstGeom prst="line">
            <a:avLst/>
          </a:prstGeom>
          <a:ln w="15875">
            <a:prstDash val="dash"/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095847" y="3868826"/>
            <a:ext cx="1498549" cy="0"/>
          </a:xfrm>
          <a:prstGeom prst="line">
            <a:avLst/>
          </a:prstGeom>
          <a:ln w="15875">
            <a:prstDash val="dash"/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5847" y="3868826"/>
            <a:ext cx="0" cy="859536"/>
          </a:xfrm>
          <a:prstGeom prst="line">
            <a:avLst/>
          </a:prstGeom>
          <a:ln w="15875">
            <a:prstDash val="dash"/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5847" y="4728362"/>
            <a:ext cx="1160221" cy="0"/>
          </a:xfrm>
          <a:prstGeom prst="line">
            <a:avLst/>
          </a:prstGeom>
          <a:ln w="15875">
            <a:prstDash val="dash"/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29823" y="3484778"/>
            <a:ext cx="554355" cy="0"/>
          </a:xfrm>
          <a:prstGeom prst="line">
            <a:avLst/>
          </a:prstGeom>
          <a:ln w="15875">
            <a:prstDash val="dash"/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484178" y="3484778"/>
            <a:ext cx="0" cy="1243584"/>
          </a:xfrm>
          <a:prstGeom prst="line">
            <a:avLst/>
          </a:prstGeom>
          <a:ln w="15875">
            <a:prstDash val="dash"/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0929823" y="4728362"/>
            <a:ext cx="554355" cy="0"/>
          </a:xfrm>
          <a:prstGeom prst="line">
            <a:avLst/>
          </a:prstGeom>
          <a:ln w="15875">
            <a:prstDash val="dash"/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3201314"/>
            <a:ext cx="566928" cy="566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68717" y="3846855"/>
            <a:ext cx="862965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利用者端末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107713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社内LAN</a:t>
            </a:r>
          </a:p>
        </p:txBody>
      </p:sp>
      <p:pic>
        <p:nvPicPr>
          <p:cNvPr id="21" name="Picture 20" descr="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932" y="1646834"/>
            <a:ext cx="566928" cy="5669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06932" y="2292375"/>
            <a:ext cx="574929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ID基盤</a:t>
            </a:r>
          </a:p>
        </p:txBody>
      </p:sp>
      <p:pic>
        <p:nvPicPr>
          <p:cNvPr id="23" name="Picture 22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834" y="3201314"/>
            <a:ext cx="566928" cy="5669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934358" y="3846855"/>
            <a:ext cx="132588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ファイアウォール</a:t>
            </a:r>
          </a:p>
        </p:txBody>
      </p:sp>
      <p:pic>
        <p:nvPicPr>
          <p:cNvPr id="25" name="Picture 24" descr="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0932" y="3201314"/>
            <a:ext cx="566928" cy="5669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98322" y="3846855"/>
            <a:ext cx="1192149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業務Webサーバ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0066" y="4107713"/>
            <a:ext cx="708660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アプリ本体</a:t>
            </a:r>
          </a:p>
        </p:txBody>
      </p:sp>
      <p:pic>
        <p:nvPicPr>
          <p:cNvPr id="28" name="Picture 27" descr="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8031" y="3201314"/>
            <a:ext cx="566928" cy="5669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196017" y="3846855"/>
            <a:ext cx="790956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DBサーバ</a:t>
            </a:r>
          </a:p>
        </p:txBody>
      </p:sp>
      <p:pic>
        <p:nvPicPr>
          <p:cNvPr id="30" name="Picture 29" descr="moni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0932" y="4444898"/>
            <a:ext cx="566928" cy="5669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240066" y="5090439"/>
            <a:ext cx="70866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ログ収集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3510" y="5351297"/>
            <a:ext cx="461772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監査用</a:t>
            </a:r>
          </a:p>
        </p:txBody>
      </p:sp>
      <p:pic>
        <p:nvPicPr>
          <p:cNvPr id="33" name="Picture 32" descr="stor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8031" y="4444898"/>
            <a:ext cx="566928" cy="5669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082860" y="5090439"/>
            <a:ext cx="101727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バックアップ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98887" y="5351297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日次保管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42145" y="3248177"/>
            <a:ext cx="51320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HTTPS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5232" y="2754401"/>
            <a:ext cx="338328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認証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23782" y="3248177"/>
            <a:ext cx="338328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SQL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52514" y="3632225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監査ログ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15014" y="4025417"/>
            <a:ext cx="338328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日次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053328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同梱のMicrosoft Fluent UIアイコンを使用。ライセンスはslidegen/assets/CREDITS.mdを参照。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C9D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05872" y="6382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6324F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9376" y="6391656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イベント駆動構成図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受付と処理を分離し、保存・監視へ非同期分岐する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906191" y="1589227"/>
            <a:ext cx="8437397" cy="4471416"/>
          </a:xfrm>
          <a:prstGeom prst="rect">
            <a:avLst/>
          </a:prstGeom>
          <a:noFill/>
          <a:ln w="15875">
            <a:solidFill>
              <a:srgbClr val="6C7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5919" y="1644091"/>
            <a:ext cx="8549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C7372"/>
                </a:solidFill>
                <a:latin typeface="Yu Gothic"/>
                <a:ea typeface="Yu Gothic"/>
                <a:cs typeface="Yu Gothic"/>
              </a:rPr>
              <a:t>AWS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3180511" y="2832811"/>
            <a:ext cx="6023267" cy="3063239"/>
          </a:xfrm>
          <a:prstGeom prst="rect">
            <a:avLst/>
          </a:prstGeom>
          <a:noFill/>
          <a:ln w="1587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0239" y="2887675"/>
            <a:ext cx="186309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Asynchronous Processing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38528" y="3664915"/>
            <a:ext cx="1571167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86351" y="3664915"/>
            <a:ext cx="1571168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34175" y="3664915"/>
            <a:ext cx="1571168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681999" y="3546043"/>
            <a:ext cx="785584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467583" y="2421331"/>
            <a:ext cx="0" cy="1124712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467583" y="2421331"/>
            <a:ext cx="785584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81999" y="3783787"/>
            <a:ext cx="785584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67583" y="3783787"/>
            <a:ext cx="0" cy="1124712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67583" y="4908499"/>
            <a:ext cx="785584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43671" y="4003243"/>
            <a:ext cx="0" cy="566928"/>
          </a:xfrm>
          <a:prstGeom prst="line">
            <a:avLst/>
          </a:prstGeom>
          <a:ln w="15875">
            <a:prstDash val="dash"/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3381451"/>
            <a:ext cx="566928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1565" y="4026992"/>
            <a:ext cx="101727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業務システム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2426" y="4287850"/>
            <a:ext cx="95554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イベント送信元</a:t>
            </a:r>
          </a:p>
        </p:txBody>
      </p:sp>
      <p:pic>
        <p:nvPicPr>
          <p:cNvPr id="22" name="Picture 21" descr="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59" y="3381451"/>
            <a:ext cx="566928" cy="5669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519411" y="4026992"/>
            <a:ext cx="657225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受付API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693" y="4287850"/>
            <a:ext cx="708660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検証・受付</a:t>
            </a:r>
          </a:p>
        </p:txBody>
      </p:sp>
      <p:pic>
        <p:nvPicPr>
          <p:cNvPr id="25" name="Picture 24" descr="sq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383" y="3381451"/>
            <a:ext cx="566928" cy="5669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71782" y="4026992"/>
            <a:ext cx="1048131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Amazon SQS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18073" y="4287850"/>
            <a:ext cx="95554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処理待ちキュー</a:t>
            </a:r>
          </a:p>
        </p:txBody>
      </p:sp>
      <p:pic>
        <p:nvPicPr>
          <p:cNvPr id="28" name="Picture 27" descr="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0207" y="3381451"/>
            <a:ext cx="566928" cy="5669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57883" y="4026992"/>
            <a:ext cx="1171575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非同期ワーカー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9341" y="4287850"/>
            <a:ext cx="708660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変換・集計</a:t>
            </a:r>
          </a:p>
        </p:txBody>
      </p:sp>
      <p:pic>
        <p:nvPicPr>
          <p:cNvPr id="31" name="Picture 30" descr="dynamo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8031" y="2137867"/>
            <a:ext cx="566928" cy="5669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113721" y="2783408"/>
            <a:ext cx="955547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DynamoDB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98887" y="3044266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処理状態</a:t>
            </a:r>
          </a:p>
        </p:txBody>
      </p:sp>
      <p:pic>
        <p:nvPicPr>
          <p:cNvPr id="34" name="Picture 33" descr="s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8031" y="4625035"/>
            <a:ext cx="566928" cy="5669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129151" y="5270576"/>
            <a:ext cx="924687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Amazon S3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0609" y="5531434"/>
            <a:ext cx="461772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成果物</a:t>
            </a:r>
          </a:p>
        </p:txBody>
      </p:sp>
      <p:pic>
        <p:nvPicPr>
          <p:cNvPr id="37" name="Picture 36" descr="cloudwat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0207" y="4625035"/>
            <a:ext cx="566928" cy="5669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845323" y="5270576"/>
            <a:ext cx="996696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CloudWatch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89341" y="5531434"/>
            <a:ext cx="708660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監視・ログ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7508" y="3428314"/>
            <a:ext cx="51320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HTTPS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2771" y="3428314"/>
            <a:ext cx="338328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受付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88873" y="3428314"/>
            <a:ext cx="461772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非同期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74975" y="2902534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状態更新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6697" y="4264990"/>
            <a:ext cx="461772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成果物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C9D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05872" y="6382512"/>
            <a:ext cx="5852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6324F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9376" y="6391656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19" b="0" lang="ja-JP">
                <a:solidFill>
                  <a:srgbClr val="667478"/>
                </a:solidFill>
                <a:latin typeface="Yu Gothic"/>
                <a:ea typeface="Yu Gothic"/>
                <a:cs typeface="Yu Gothic"/>
              </a:rPr>
              <a:t>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